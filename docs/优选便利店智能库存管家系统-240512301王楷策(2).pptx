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8"/>
  </p:notesMasterIdLst>
  <p:sldIdLst>
    <p:sldId id="329" r:id="rId2"/>
    <p:sldId id="257" r:id="rId3"/>
    <p:sldId id="265" r:id="rId4"/>
    <p:sldId id="330" r:id="rId5"/>
    <p:sldId id="383" r:id="rId6"/>
    <p:sldId id="382" r:id="rId7"/>
    <p:sldId id="384" r:id="rId8"/>
    <p:sldId id="260" r:id="rId9"/>
    <p:sldId id="391" r:id="rId10"/>
    <p:sldId id="392" r:id="rId11"/>
    <p:sldId id="385" r:id="rId12"/>
    <p:sldId id="386" r:id="rId13"/>
    <p:sldId id="393" r:id="rId14"/>
    <p:sldId id="387" r:id="rId15"/>
    <p:sldId id="388" r:id="rId16"/>
    <p:sldId id="39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55C9"/>
    <a:srgbClr val="F0F4FA"/>
    <a:srgbClr val="E8EEF8"/>
    <a:srgbClr val="C5D3ED"/>
    <a:srgbClr val="3123E9"/>
    <a:srgbClr val="004D99"/>
    <a:srgbClr val="000099"/>
    <a:srgbClr val="3229EB"/>
    <a:srgbClr val="65A4F1"/>
    <a:srgbClr val="6DB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21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723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FDCE7-62C2-40F9-A279-9E0898A1D9D0}" type="datetimeFigureOut">
              <a:rPr lang="zh-CN" altLang="en-US" smtClean="0"/>
              <a:pPr/>
              <a:t>2025-12-24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7520B-46C3-42EA-8CDD-5C83BF3D7C6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868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AEB9E-3534-49EE-A390-E495B53B28C7}" type="datetime1">
              <a:rPr lang="zh-CN" altLang="en-US" smtClean="0"/>
              <a:pPr/>
              <a:t>2025-12-24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275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958B-EEE3-4FF4-B6F4-C1E6E1AD8880}" type="datetime1">
              <a:rPr lang="zh-CN" altLang="en-US" smtClean="0"/>
              <a:pPr/>
              <a:t>2025-12-24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793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7218A-8E1F-4599-AAB2-B2612943B448}" type="datetime1">
              <a:rPr lang="zh-CN" altLang="en-US" smtClean="0"/>
              <a:pPr/>
              <a:t>2025-12-24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692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9FE7A-8266-450C-A180-D27A00C9D8C1}" type="datetime1">
              <a:rPr lang="zh-CN" altLang="en-US" smtClean="0"/>
              <a:pPr/>
              <a:t>2025-12-24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82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6270-2B41-4354-8541-3C1418556EF9}" type="datetime1">
              <a:rPr lang="zh-CN" altLang="en-US" smtClean="0"/>
              <a:pPr/>
              <a:t>2025-12-24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87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6419-A95F-4EB3-99DA-09936A07FF60}" type="datetime1">
              <a:rPr lang="zh-CN" altLang="en-US" smtClean="0"/>
              <a:pPr/>
              <a:t>2025-12-24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87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ED2BC-DB43-4493-A41E-82869AED55AD}" type="datetime1">
              <a:rPr lang="zh-CN" altLang="en-US" smtClean="0"/>
              <a:pPr/>
              <a:t>2025-12-24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218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A419-749E-4EF8-979B-400A1513EC45}" type="datetime1">
              <a:rPr lang="zh-CN" altLang="en-US" smtClean="0"/>
              <a:pPr/>
              <a:t>2025-12-24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575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19EA2-2F6E-4D15-90A2-FD9142B6940A}" type="datetime1">
              <a:rPr lang="zh-CN" altLang="en-US" smtClean="0"/>
              <a:pPr/>
              <a:t>2025-12-24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41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C29F-8F3A-4504-A385-B853DD0A817B}" type="datetime1">
              <a:rPr lang="zh-CN" altLang="en-US" smtClean="0"/>
              <a:pPr/>
              <a:t>2025-12-24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220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26582-A142-43C8-9A85-DB8DDF29752D}" type="datetime1">
              <a:rPr lang="zh-CN" altLang="en-US" smtClean="0"/>
              <a:pPr/>
              <a:t>2025-12-24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761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DDCAD-02AE-4895-88BA-8C1A662A8570}" type="datetime1">
              <a:rPr lang="zh-CN" altLang="en-US" smtClean="0"/>
              <a:pPr/>
              <a:t>2025-12-24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9EB93-0395-4428-945F-D016AFEDB1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08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691D5309-815E-43BF-A716-308BD0FF9F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6386"/>
            <a:ext cx="9144000" cy="75161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27D53A3-D375-425B-8319-BD88BC70E6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184"/>
            <a:ext cx="9144000" cy="175541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DFE6414-227A-41A8-934B-2CD200D75C53}"/>
              </a:ext>
            </a:extLst>
          </p:cNvPr>
          <p:cNvSpPr/>
          <p:nvPr/>
        </p:nvSpPr>
        <p:spPr>
          <a:xfrm>
            <a:off x="555823" y="2164799"/>
            <a:ext cx="8212238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优选便利店智能库存管家系统</a:t>
            </a:r>
            <a:endParaRPr lang="zh-CN" altLang="zh-CN" sz="3600" b="1" kern="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B7BF9-074F-4A03-AE9F-1D6438FB8FC2}"/>
              </a:ext>
            </a:extLst>
          </p:cNvPr>
          <p:cNvSpPr txBox="1"/>
          <p:nvPr/>
        </p:nvSpPr>
        <p:spPr>
          <a:xfrm>
            <a:off x="939625" y="4193587"/>
            <a:ext cx="7516997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240512301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王楷策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时间：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1">
            <a:extLst>
              <a:ext uri="{FF2B5EF4-FFF2-40B4-BE49-F238E27FC236}">
                <a16:creationId xmlns:a16="http://schemas.microsoft.com/office/drawing/2014/main" id="{8A246862-2CBC-476C-AF1F-8C2B9E63B17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767" y="208561"/>
            <a:ext cx="1360351" cy="130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">
            <a:extLst>
              <a:ext uri="{FF2B5EF4-FFF2-40B4-BE49-F238E27FC236}">
                <a16:creationId xmlns:a16="http://schemas.microsoft.com/office/drawing/2014/main" id="{9EAD6D96-F0E4-4DE1-8B90-BEAB04F39A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16" y="6213189"/>
            <a:ext cx="1536790" cy="54312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7">
            <a:extLst>
              <a:ext uri="{FF2B5EF4-FFF2-40B4-BE49-F238E27FC236}">
                <a16:creationId xmlns:a16="http://schemas.microsoft.com/office/drawing/2014/main" id="{D2435C97-6DFE-4CCD-A146-21CDC6D15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5" y="4117336"/>
            <a:ext cx="9144000" cy="3651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FF9933"/>
              </a:gs>
              <a:gs pos="100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zh-CN" altLang="en-US">
              <a:latin typeface="Arial" charset="0"/>
              <a:ea typeface="隶书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2E4C43-30BE-9D9D-2EB4-B5B32C94C6E8}"/>
              </a:ext>
            </a:extLst>
          </p:cNvPr>
          <p:cNvSpPr txBox="1"/>
          <p:nvPr/>
        </p:nvSpPr>
        <p:spPr>
          <a:xfrm>
            <a:off x="1792824" y="3201361"/>
            <a:ext cx="5810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 + MySQL +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Tkinter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的全栈式桌面应用</a:t>
            </a:r>
          </a:p>
        </p:txBody>
      </p:sp>
    </p:spTree>
    <p:extLst>
      <p:ext uri="{BB962C8B-B14F-4D97-AF65-F5344CB8AC3E}">
        <p14:creationId xmlns:p14="http://schemas.microsoft.com/office/powerpoint/2010/main" val="3577677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081E90C-9907-4E67-A219-7298EA3F07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183"/>
            <a:ext cx="9144000" cy="743059"/>
          </a:xfrm>
          <a:prstGeom prst="rect">
            <a:avLst/>
          </a:prstGeom>
        </p:spPr>
      </p:pic>
      <p:pic>
        <p:nvPicPr>
          <p:cNvPr id="10" name="图片 11">
            <a:extLst>
              <a:ext uri="{FF2B5EF4-FFF2-40B4-BE49-F238E27FC236}">
                <a16:creationId xmlns:a16="http://schemas.microsoft.com/office/drawing/2014/main" id="{7C296040-4D7B-4C99-86EB-2E6BB3635DA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8937" cy="7126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">
            <a:extLst>
              <a:ext uri="{FF2B5EF4-FFF2-40B4-BE49-F238E27FC236}">
                <a16:creationId xmlns:a16="http://schemas.microsoft.com/office/drawing/2014/main" id="{9EAD6D96-F0E4-4DE1-8B90-BEAB04F39A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37" y="105208"/>
            <a:ext cx="1421220" cy="502278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DD8878-7DB3-4B57-8349-1443AA45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9234" y="6391186"/>
            <a:ext cx="372836" cy="365125"/>
          </a:xfrm>
        </p:spPr>
        <p:txBody>
          <a:bodyPr/>
          <a:lstStyle/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1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614F1A-3256-4CC4-BD2D-9BDFD794325E}"/>
              </a:ext>
            </a:extLst>
          </p:cNvPr>
          <p:cNvSpPr txBox="1"/>
          <p:nvPr/>
        </p:nvSpPr>
        <p:spPr>
          <a:xfrm>
            <a:off x="3677721" y="1081706"/>
            <a:ext cx="1184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1C78B68-013B-4C8B-9705-C9ADFD4F705E}"/>
              </a:ext>
            </a:extLst>
          </p:cNvPr>
          <p:cNvGrpSpPr/>
          <p:nvPr/>
        </p:nvGrpSpPr>
        <p:grpSpPr>
          <a:xfrm>
            <a:off x="1415411" y="1764327"/>
            <a:ext cx="6243514" cy="868786"/>
            <a:chOff x="1522187" y="2536869"/>
            <a:chExt cx="6243514" cy="868786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903B581D-F8F0-4155-A4DC-050412958BF5}"/>
                </a:ext>
              </a:extLst>
            </p:cNvPr>
            <p:cNvSpPr/>
            <p:nvPr/>
          </p:nvSpPr>
          <p:spPr>
            <a:xfrm>
              <a:off x="2530317" y="2576004"/>
              <a:ext cx="5235384" cy="829651"/>
            </a:xfrm>
            <a:prstGeom prst="rect">
              <a:avLst/>
            </a:prstGeom>
            <a:solidFill>
              <a:srgbClr val="1A55C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项目背景与设计思路</a:t>
              </a:r>
              <a:endParaRPr lang="zh-CN" altLang="en-US" sz="3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92FA6D5E-7F18-439A-9DFC-667FD05B49F6}"/>
                </a:ext>
              </a:extLst>
            </p:cNvPr>
            <p:cNvSpPr/>
            <p:nvPr/>
          </p:nvSpPr>
          <p:spPr>
            <a:xfrm>
              <a:off x="1522187" y="2536869"/>
              <a:ext cx="878178" cy="829651"/>
            </a:xfrm>
            <a:prstGeom prst="ellipse">
              <a:avLst/>
            </a:prstGeom>
            <a:solidFill>
              <a:srgbClr val="1A55C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D12FC175-C7F4-42A8-911F-C929B0DC41DD}"/>
                </a:ext>
              </a:extLst>
            </p:cNvPr>
            <p:cNvSpPr/>
            <p:nvPr/>
          </p:nvSpPr>
          <p:spPr>
            <a:xfrm>
              <a:off x="1629995" y="2599596"/>
              <a:ext cx="761088" cy="719031"/>
            </a:xfrm>
            <a:prstGeom prst="ellipse">
              <a:avLst/>
            </a:prstGeom>
            <a:solidFill>
              <a:srgbClr val="1A55C9"/>
            </a:solidFill>
            <a:ln w="381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itchFamily="34" charset="0"/>
                </a:rPr>
                <a:t>1</a:t>
              </a:r>
              <a:endParaRPr lang="zh-CN" altLang="en-US" sz="3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689D927-F66F-46FB-92C9-9038A72B3030}"/>
              </a:ext>
            </a:extLst>
          </p:cNvPr>
          <p:cNvGrpSpPr/>
          <p:nvPr/>
        </p:nvGrpSpPr>
        <p:grpSpPr>
          <a:xfrm>
            <a:off x="1415411" y="2770410"/>
            <a:ext cx="6243514" cy="834713"/>
            <a:chOff x="1522187" y="3544345"/>
            <a:chExt cx="6243514" cy="834713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25081B5A-49F0-4F00-B85F-7766A300F568}"/>
                </a:ext>
              </a:extLst>
            </p:cNvPr>
            <p:cNvSpPr/>
            <p:nvPr/>
          </p:nvSpPr>
          <p:spPr>
            <a:xfrm>
              <a:off x="2530316" y="3549407"/>
              <a:ext cx="5235385" cy="829651"/>
            </a:xfrm>
            <a:prstGeom prst="rect">
              <a:avLst/>
            </a:prstGeom>
            <a:solidFill>
              <a:srgbClr val="1A55C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系统架构设计</a:t>
              </a: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EBF82DB2-D95E-4D1E-A875-4F4A69A3521B}"/>
                </a:ext>
              </a:extLst>
            </p:cNvPr>
            <p:cNvSpPr/>
            <p:nvPr/>
          </p:nvSpPr>
          <p:spPr>
            <a:xfrm>
              <a:off x="1522187" y="3544345"/>
              <a:ext cx="878178" cy="829651"/>
            </a:xfrm>
            <a:prstGeom prst="ellipse">
              <a:avLst/>
            </a:prstGeom>
            <a:solidFill>
              <a:srgbClr val="1A55C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092D5E65-9216-49B2-8586-CB3F6584C306}"/>
                </a:ext>
              </a:extLst>
            </p:cNvPr>
            <p:cNvSpPr/>
            <p:nvPr/>
          </p:nvSpPr>
          <p:spPr>
            <a:xfrm>
              <a:off x="1629995" y="3607072"/>
              <a:ext cx="761088" cy="719031"/>
            </a:xfrm>
            <a:prstGeom prst="ellipse">
              <a:avLst/>
            </a:prstGeom>
            <a:solidFill>
              <a:srgbClr val="1A55C9"/>
            </a:solidFill>
            <a:ln w="381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itchFamily="34" charset="0"/>
                </a:rPr>
                <a:t>2</a:t>
              </a:r>
              <a:endParaRPr lang="zh-CN" altLang="en-US" sz="3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endParaRPr>
            </a:p>
          </p:txBody>
        </p:sp>
      </p:grpSp>
      <p:sp>
        <p:nvSpPr>
          <p:cNvPr id="17" name="Rectangle 7">
            <a:extLst>
              <a:ext uri="{FF2B5EF4-FFF2-40B4-BE49-F238E27FC236}">
                <a16:creationId xmlns:a16="http://schemas.microsoft.com/office/drawing/2014/main" id="{43406285-E210-4AC5-BADD-6D20111DE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4832" y="733301"/>
            <a:ext cx="9144000" cy="5730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FF9933"/>
              </a:gs>
              <a:gs pos="100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zh-CN" altLang="en-US">
              <a:latin typeface="Arial" charset="0"/>
              <a:ea typeface="隶书" pitchFamily="49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8FCBFC6-E082-48A4-B0FD-5992C580A62C}"/>
              </a:ext>
            </a:extLst>
          </p:cNvPr>
          <p:cNvGrpSpPr/>
          <p:nvPr/>
        </p:nvGrpSpPr>
        <p:grpSpPr>
          <a:xfrm>
            <a:off x="1415409" y="3744134"/>
            <a:ext cx="6243516" cy="834713"/>
            <a:chOff x="1522187" y="3544345"/>
            <a:chExt cx="6243516" cy="83471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8189ADD-4CD8-439B-B9DB-7E65962C48B3}"/>
                </a:ext>
              </a:extLst>
            </p:cNvPr>
            <p:cNvSpPr/>
            <p:nvPr/>
          </p:nvSpPr>
          <p:spPr>
            <a:xfrm>
              <a:off x="2530317" y="3549407"/>
              <a:ext cx="5235386" cy="829651"/>
            </a:xfrm>
            <a:prstGeom prst="rect">
              <a:avLst/>
            </a:prstGeom>
            <a:solidFill>
              <a:srgbClr val="1A55C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功能展示</a:t>
              </a:r>
              <a:r>
                <a:rPr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店长管理端</a:t>
              </a:r>
              <a:r>
                <a:rPr lang="zh-CN" altLang="en-US" sz="3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​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99094577-FB7A-4567-8423-6D7F1E799BC9}"/>
                </a:ext>
              </a:extLst>
            </p:cNvPr>
            <p:cNvSpPr/>
            <p:nvPr/>
          </p:nvSpPr>
          <p:spPr>
            <a:xfrm>
              <a:off x="1522187" y="3544345"/>
              <a:ext cx="878178" cy="829651"/>
            </a:xfrm>
            <a:prstGeom prst="ellipse">
              <a:avLst/>
            </a:prstGeom>
            <a:solidFill>
              <a:srgbClr val="1A55C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5B7712D8-E5FC-4604-BDD9-2C8859C149A7}"/>
                </a:ext>
              </a:extLst>
            </p:cNvPr>
            <p:cNvSpPr/>
            <p:nvPr/>
          </p:nvSpPr>
          <p:spPr>
            <a:xfrm>
              <a:off x="1629995" y="3607072"/>
              <a:ext cx="761088" cy="719031"/>
            </a:xfrm>
            <a:prstGeom prst="ellipse">
              <a:avLst/>
            </a:prstGeom>
            <a:solidFill>
              <a:srgbClr val="1A55C9"/>
            </a:solidFill>
            <a:ln w="381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itchFamily="34" charset="0"/>
                </a:rPr>
                <a:t>3</a:t>
              </a:r>
              <a:endParaRPr lang="zh-CN" altLang="en-US" sz="3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BAC4A06-0B25-4F2F-A804-1E354FD28DF2}"/>
              </a:ext>
            </a:extLst>
          </p:cNvPr>
          <p:cNvGrpSpPr/>
          <p:nvPr/>
        </p:nvGrpSpPr>
        <p:grpSpPr>
          <a:xfrm>
            <a:off x="1415410" y="4722920"/>
            <a:ext cx="6243516" cy="834713"/>
            <a:chOff x="1522187" y="3544345"/>
            <a:chExt cx="6243516" cy="83471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AE255B7-8323-47BC-A0C0-6C87AA0340BC}"/>
                </a:ext>
              </a:extLst>
            </p:cNvPr>
            <p:cNvSpPr/>
            <p:nvPr/>
          </p:nvSpPr>
          <p:spPr>
            <a:xfrm>
              <a:off x="2530317" y="3549407"/>
              <a:ext cx="5235386" cy="829651"/>
            </a:xfrm>
            <a:prstGeom prst="rect">
              <a:avLst/>
            </a:prstGeom>
            <a:solidFill>
              <a:srgbClr val="1A55C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功能展示</a:t>
              </a:r>
              <a:r>
                <a:rPr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收银员工作台</a:t>
              </a: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2A5B310F-E64F-42A3-B491-93CB04B589E1}"/>
                </a:ext>
              </a:extLst>
            </p:cNvPr>
            <p:cNvSpPr/>
            <p:nvPr/>
          </p:nvSpPr>
          <p:spPr>
            <a:xfrm>
              <a:off x="1522187" y="3544345"/>
              <a:ext cx="878178" cy="829651"/>
            </a:xfrm>
            <a:prstGeom prst="ellipse">
              <a:avLst/>
            </a:prstGeom>
            <a:solidFill>
              <a:srgbClr val="1A55C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C3C4475C-DA84-462E-BE16-1CC9542554BE}"/>
                </a:ext>
              </a:extLst>
            </p:cNvPr>
            <p:cNvSpPr/>
            <p:nvPr/>
          </p:nvSpPr>
          <p:spPr>
            <a:xfrm>
              <a:off x="1629995" y="3607072"/>
              <a:ext cx="761088" cy="719031"/>
            </a:xfrm>
            <a:prstGeom prst="ellipse">
              <a:avLst/>
            </a:prstGeom>
            <a:solidFill>
              <a:srgbClr val="1A55C9"/>
            </a:solidFill>
            <a:ln w="381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itchFamily="34" charset="0"/>
                </a:rPr>
                <a:t>4</a:t>
              </a:r>
              <a:endParaRPr lang="zh-CN" altLang="en-US" sz="3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2111FB-C63F-7178-35EA-E1C732881782}"/>
              </a:ext>
            </a:extLst>
          </p:cNvPr>
          <p:cNvGrpSpPr/>
          <p:nvPr/>
        </p:nvGrpSpPr>
        <p:grpSpPr>
          <a:xfrm>
            <a:off x="1415409" y="5662571"/>
            <a:ext cx="6243514" cy="868786"/>
            <a:chOff x="1522187" y="2536869"/>
            <a:chExt cx="6243514" cy="86878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46E24F7-B7A9-0AC6-DA11-16CFB45451DE}"/>
                </a:ext>
              </a:extLst>
            </p:cNvPr>
            <p:cNvSpPr/>
            <p:nvPr/>
          </p:nvSpPr>
          <p:spPr>
            <a:xfrm>
              <a:off x="2530317" y="2576004"/>
              <a:ext cx="5235384" cy="829651"/>
            </a:xfrm>
            <a:prstGeom prst="rect">
              <a:avLst/>
            </a:prstGeom>
            <a:solidFill>
              <a:srgbClr val="1A55C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关键技术实现​</a:t>
              </a: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C9B745B-C7D9-5F66-8FCE-C475B0BB399A}"/>
                </a:ext>
              </a:extLst>
            </p:cNvPr>
            <p:cNvSpPr/>
            <p:nvPr/>
          </p:nvSpPr>
          <p:spPr>
            <a:xfrm>
              <a:off x="1522187" y="2536869"/>
              <a:ext cx="878178" cy="829651"/>
            </a:xfrm>
            <a:prstGeom prst="ellipse">
              <a:avLst/>
            </a:prstGeom>
            <a:solidFill>
              <a:srgbClr val="1A55C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C29908F4-C908-C09A-0259-45BB333078CA}"/>
                </a:ext>
              </a:extLst>
            </p:cNvPr>
            <p:cNvSpPr/>
            <p:nvPr/>
          </p:nvSpPr>
          <p:spPr>
            <a:xfrm>
              <a:off x="1629995" y="2599596"/>
              <a:ext cx="761088" cy="719031"/>
            </a:xfrm>
            <a:prstGeom prst="ellipse">
              <a:avLst/>
            </a:prstGeom>
            <a:solidFill>
              <a:srgbClr val="1A55C9"/>
            </a:solidFill>
            <a:ln w="381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itchFamily="34" charset="0"/>
                </a:rPr>
                <a:t>5</a:t>
              </a:r>
              <a:endParaRPr lang="zh-CN" altLang="en-US" sz="3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4915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DD8878-7DB3-4B57-8349-1443AA45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9234" y="6391186"/>
            <a:ext cx="372836" cy="365125"/>
          </a:xfrm>
        </p:spPr>
        <p:txBody>
          <a:bodyPr/>
          <a:lstStyle/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2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15" name="组合 9">
            <a:extLst>
              <a:ext uri="{FF2B5EF4-FFF2-40B4-BE49-F238E27FC236}">
                <a16:creationId xmlns:a16="http://schemas.microsoft.com/office/drawing/2014/main" id="{7629C75A-FCE1-4948-B60D-CF7EB9830204}"/>
              </a:ext>
            </a:extLst>
          </p:cNvPr>
          <p:cNvGrpSpPr/>
          <p:nvPr/>
        </p:nvGrpSpPr>
        <p:grpSpPr bwMode="auto">
          <a:xfrm>
            <a:off x="1331913" y="2692400"/>
            <a:ext cx="1503362" cy="1473200"/>
            <a:chOff x="2008239" y="2389239"/>
            <a:chExt cx="2079522" cy="2079522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C3648BB4-9904-4C22-A068-2FDFAFCD382A}"/>
                </a:ext>
              </a:extLst>
            </p:cNvPr>
            <p:cNvGrpSpPr/>
            <p:nvPr/>
          </p:nvGrpSpPr>
          <p:grpSpPr>
            <a:xfrm>
              <a:off x="2008239" y="2389239"/>
              <a:ext cx="2079522" cy="2079522"/>
              <a:chOff x="7772400" y="3775587"/>
              <a:chExt cx="2079522" cy="2079522"/>
            </a:xfrm>
            <a:solidFill>
              <a:schemeClr val="bg1"/>
            </a:solidFill>
          </p:grpSpPr>
          <p:sp>
            <p:nvSpPr>
              <p:cNvPr id="18" name="空心弧 17">
                <a:extLst>
                  <a:ext uri="{FF2B5EF4-FFF2-40B4-BE49-F238E27FC236}">
                    <a16:creationId xmlns:a16="http://schemas.microsoft.com/office/drawing/2014/main" id="{D25FCE36-2753-4992-A21F-1608AA1057FB}"/>
                  </a:ext>
                </a:extLst>
              </p:cNvPr>
              <p:cNvSpPr/>
              <p:nvPr/>
            </p:nvSpPr>
            <p:spPr>
              <a:xfrm>
                <a:off x="7875639" y="3878826"/>
                <a:ext cx="1873045" cy="1873045"/>
              </a:xfrm>
              <a:prstGeom prst="blockArc">
                <a:avLst>
                  <a:gd name="adj1" fmla="val 2593583"/>
                  <a:gd name="adj2" fmla="val 838475"/>
                  <a:gd name="adj3" fmla="val 4553"/>
                </a:avLst>
              </a:prstGeom>
              <a:solidFill>
                <a:schemeClr val="bg1">
                  <a:alpha val="7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空心弧 18">
                <a:extLst>
                  <a:ext uri="{FF2B5EF4-FFF2-40B4-BE49-F238E27FC236}">
                    <a16:creationId xmlns:a16="http://schemas.microsoft.com/office/drawing/2014/main" id="{0A7D25BA-67D0-4A29-A968-0AF41FD771F5}"/>
                  </a:ext>
                </a:extLst>
              </p:cNvPr>
              <p:cNvSpPr/>
              <p:nvPr/>
            </p:nvSpPr>
            <p:spPr>
              <a:xfrm flipH="1">
                <a:off x="7812957" y="3816144"/>
                <a:ext cx="1998408" cy="1998408"/>
              </a:xfrm>
              <a:prstGeom prst="blockArc">
                <a:avLst>
                  <a:gd name="adj1" fmla="val 14449133"/>
                  <a:gd name="adj2" fmla="val 13621727"/>
                  <a:gd name="adj3" fmla="val 969"/>
                </a:avLst>
              </a:prstGeom>
              <a:solidFill>
                <a:schemeClr val="bg1">
                  <a:alpha val="4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空心弧 19">
                <a:extLst>
                  <a:ext uri="{FF2B5EF4-FFF2-40B4-BE49-F238E27FC236}">
                    <a16:creationId xmlns:a16="http://schemas.microsoft.com/office/drawing/2014/main" id="{5C7211AD-2495-42EF-B2CC-768F776EBBE9}"/>
                  </a:ext>
                </a:extLst>
              </p:cNvPr>
              <p:cNvSpPr/>
              <p:nvPr/>
            </p:nvSpPr>
            <p:spPr>
              <a:xfrm flipV="1">
                <a:off x="7772400" y="3775587"/>
                <a:ext cx="2079522" cy="2079522"/>
              </a:xfrm>
              <a:prstGeom prst="blockArc">
                <a:avLst>
                  <a:gd name="adj1" fmla="val 2201999"/>
                  <a:gd name="adj2" fmla="val 1076694"/>
                  <a:gd name="adj3" fmla="val 433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文本框 42">
              <a:extLst>
                <a:ext uri="{FF2B5EF4-FFF2-40B4-BE49-F238E27FC236}">
                  <a16:creationId xmlns:a16="http://schemas.microsoft.com/office/drawing/2014/main" id="{3BD50578-5FF1-48A2-9A13-4BFF55F45F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9154" y="2859108"/>
              <a:ext cx="1217691" cy="13045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5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一</a:t>
              </a:r>
            </a:p>
          </p:txBody>
        </p:sp>
      </p:grpSp>
      <p:grpSp>
        <p:nvGrpSpPr>
          <p:cNvPr id="21" name="组合 17">
            <a:extLst>
              <a:ext uri="{FF2B5EF4-FFF2-40B4-BE49-F238E27FC236}">
                <a16:creationId xmlns:a16="http://schemas.microsoft.com/office/drawing/2014/main" id="{070B1108-63DC-4275-8003-AD20907475A5}"/>
              </a:ext>
            </a:extLst>
          </p:cNvPr>
          <p:cNvGrpSpPr/>
          <p:nvPr/>
        </p:nvGrpSpPr>
        <p:grpSpPr bwMode="auto">
          <a:xfrm>
            <a:off x="3587931" y="3541712"/>
            <a:ext cx="5354139" cy="98471"/>
            <a:chOff x="6618518" y="1126210"/>
            <a:chExt cx="4822371" cy="103239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90207FC-E5AD-4268-A391-F759038B1717}"/>
                </a:ext>
              </a:extLst>
            </p:cNvPr>
            <p:cNvSpPr/>
            <p:nvPr/>
          </p:nvSpPr>
          <p:spPr>
            <a:xfrm>
              <a:off x="6618518" y="1126210"/>
              <a:ext cx="1982601" cy="10323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0C40A5A-B5FD-40CC-9BEA-2DD2444AA703}"/>
                </a:ext>
              </a:extLst>
            </p:cNvPr>
            <p:cNvCxnSpPr/>
            <p:nvPr/>
          </p:nvCxnSpPr>
          <p:spPr>
            <a:xfrm flipV="1">
              <a:off x="8601119" y="1204036"/>
              <a:ext cx="2839770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 4">
            <a:extLst>
              <a:ext uri="{FF2B5EF4-FFF2-40B4-BE49-F238E27FC236}">
                <a16:creationId xmlns:a16="http://schemas.microsoft.com/office/drawing/2014/main" id="{06D452EA-38CD-41A5-BF5A-2F09A1663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882" y="2721132"/>
            <a:ext cx="5343299" cy="5738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项目背景与设计思路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7FA330E4-C13D-4A25-9F00-280C4A33A7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25" y="0"/>
            <a:ext cx="3603256" cy="6858000"/>
          </a:xfrm>
          <a:prstGeom prst="rect">
            <a:avLst/>
          </a:prstGeom>
        </p:spPr>
      </p:pic>
      <p:grpSp>
        <p:nvGrpSpPr>
          <p:cNvPr id="26" name="组合 9">
            <a:extLst>
              <a:ext uri="{FF2B5EF4-FFF2-40B4-BE49-F238E27FC236}">
                <a16:creationId xmlns:a16="http://schemas.microsoft.com/office/drawing/2014/main" id="{934D5105-5D4F-4A0F-A943-EA407DE78586}"/>
              </a:ext>
            </a:extLst>
          </p:cNvPr>
          <p:cNvGrpSpPr/>
          <p:nvPr/>
        </p:nvGrpSpPr>
        <p:grpSpPr bwMode="auto">
          <a:xfrm>
            <a:off x="1013277" y="2619263"/>
            <a:ext cx="1503362" cy="1473200"/>
            <a:chOff x="2008239" y="2389239"/>
            <a:chExt cx="2079522" cy="2079522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000EEDD-4DBE-46EA-9236-6573C42E0AC9}"/>
                </a:ext>
              </a:extLst>
            </p:cNvPr>
            <p:cNvGrpSpPr/>
            <p:nvPr/>
          </p:nvGrpSpPr>
          <p:grpSpPr>
            <a:xfrm>
              <a:off x="2008239" y="2389239"/>
              <a:ext cx="2079522" cy="2079522"/>
              <a:chOff x="7772400" y="3775587"/>
              <a:chExt cx="2079522" cy="2079522"/>
            </a:xfrm>
            <a:solidFill>
              <a:schemeClr val="bg1"/>
            </a:solidFill>
          </p:grpSpPr>
          <p:sp>
            <p:nvSpPr>
              <p:cNvPr id="29" name="空心弧 28">
                <a:extLst>
                  <a:ext uri="{FF2B5EF4-FFF2-40B4-BE49-F238E27FC236}">
                    <a16:creationId xmlns:a16="http://schemas.microsoft.com/office/drawing/2014/main" id="{DABD15D9-599C-4769-B9DA-DBDE15536CC6}"/>
                  </a:ext>
                </a:extLst>
              </p:cNvPr>
              <p:cNvSpPr/>
              <p:nvPr/>
            </p:nvSpPr>
            <p:spPr>
              <a:xfrm>
                <a:off x="7875639" y="3878826"/>
                <a:ext cx="1873045" cy="1873045"/>
              </a:xfrm>
              <a:prstGeom prst="blockArc">
                <a:avLst>
                  <a:gd name="adj1" fmla="val 2593583"/>
                  <a:gd name="adj2" fmla="val 838475"/>
                  <a:gd name="adj3" fmla="val 4553"/>
                </a:avLst>
              </a:prstGeom>
              <a:solidFill>
                <a:schemeClr val="bg1">
                  <a:alpha val="7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空心弧 29">
                <a:extLst>
                  <a:ext uri="{FF2B5EF4-FFF2-40B4-BE49-F238E27FC236}">
                    <a16:creationId xmlns:a16="http://schemas.microsoft.com/office/drawing/2014/main" id="{4A8F24B2-AAAE-462F-A399-67D2128D0D76}"/>
                  </a:ext>
                </a:extLst>
              </p:cNvPr>
              <p:cNvSpPr/>
              <p:nvPr/>
            </p:nvSpPr>
            <p:spPr>
              <a:xfrm flipH="1">
                <a:off x="7812957" y="3816144"/>
                <a:ext cx="1998408" cy="1998408"/>
              </a:xfrm>
              <a:prstGeom prst="blockArc">
                <a:avLst>
                  <a:gd name="adj1" fmla="val 14449133"/>
                  <a:gd name="adj2" fmla="val 13621727"/>
                  <a:gd name="adj3" fmla="val 969"/>
                </a:avLst>
              </a:prstGeom>
              <a:solidFill>
                <a:schemeClr val="bg1">
                  <a:alpha val="4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空心弧 30">
                <a:extLst>
                  <a:ext uri="{FF2B5EF4-FFF2-40B4-BE49-F238E27FC236}">
                    <a16:creationId xmlns:a16="http://schemas.microsoft.com/office/drawing/2014/main" id="{AB7B36C5-7D5B-420D-AA08-EEDC21F2EFFD}"/>
                  </a:ext>
                </a:extLst>
              </p:cNvPr>
              <p:cNvSpPr/>
              <p:nvPr/>
            </p:nvSpPr>
            <p:spPr>
              <a:xfrm flipV="1">
                <a:off x="7772400" y="3775587"/>
                <a:ext cx="2079522" cy="2079522"/>
              </a:xfrm>
              <a:prstGeom prst="blockArc">
                <a:avLst>
                  <a:gd name="adj1" fmla="val 2201999"/>
                  <a:gd name="adj2" fmla="val 1076694"/>
                  <a:gd name="adj3" fmla="val 433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文本框 42">
              <a:extLst>
                <a:ext uri="{FF2B5EF4-FFF2-40B4-BE49-F238E27FC236}">
                  <a16:creationId xmlns:a16="http://schemas.microsoft.com/office/drawing/2014/main" id="{9C97BBED-CE9E-41D2-9307-FCE1820EB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0806" y="2777328"/>
              <a:ext cx="734387" cy="13033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5400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CN" altLang="en-US" sz="5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238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E578E72-05C0-414B-B117-6699168807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183"/>
            <a:ext cx="9144000" cy="743059"/>
          </a:xfrm>
          <a:prstGeom prst="rect">
            <a:avLst/>
          </a:prstGeom>
        </p:spPr>
      </p:pic>
      <p:pic>
        <p:nvPicPr>
          <p:cNvPr id="10" name="图片 11">
            <a:extLst>
              <a:ext uri="{FF2B5EF4-FFF2-40B4-BE49-F238E27FC236}">
                <a16:creationId xmlns:a16="http://schemas.microsoft.com/office/drawing/2014/main" id="{7C296040-4D7B-4C99-86EB-2E6BB3635DA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8937" cy="7126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">
            <a:extLst>
              <a:ext uri="{FF2B5EF4-FFF2-40B4-BE49-F238E27FC236}">
                <a16:creationId xmlns:a16="http://schemas.microsoft.com/office/drawing/2014/main" id="{9EAD6D96-F0E4-4DE1-8B90-BEAB04F39A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37" y="105208"/>
            <a:ext cx="1421220" cy="50227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DD8878-7DB3-4B57-8349-1443AA45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9234" y="6391186"/>
            <a:ext cx="372836" cy="365125"/>
          </a:xfrm>
        </p:spPr>
        <p:txBody>
          <a:bodyPr/>
          <a:lstStyle/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3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DCDDAC50-3AB7-4157-9C01-EA9E7E4F7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3059"/>
            <a:ext cx="9109168" cy="47544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FF9933"/>
              </a:gs>
              <a:gs pos="100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zh-CN" altLang="en-US">
              <a:latin typeface="Arial" charset="0"/>
              <a:ea typeface="隶书" pitchFamily="49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8070B3B-BECF-4DE4-92B1-1C4969024153}"/>
              </a:ext>
            </a:extLst>
          </p:cNvPr>
          <p:cNvSpPr/>
          <p:nvPr/>
        </p:nvSpPr>
        <p:spPr>
          <a:xfrm>
            <a:off x="1543050" y="1169184"/>
            <a:ext cx="22835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核心痛点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BD9ADE-760B-4537-B39B-918475E82E8C}"/>
              </a:ext>
            </a:extLst>
          </p:cNvPr>
          <p:cNvSpPr txBox="1"/>
          <p:nvPr/>
        </p:nvSpPr>
        <p:spPr>
          <a:xfrm>
            <a:off x="374466" y="1816686"/>
            <a:ext cx="43678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600" b="0" i="0" dirty="0">
                <a:solidFill>
                  <a:srgbClr val="1F232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传统便利店库存管理混乱、临期商品难发现、销售数据无可视化分析。</a:t>
            </a:r>
            <a:endParaRPr lang="zh-CN" altLang="en-US" sz="2400" b="0" i="0" dirty="0">
              <a:solidFill>
                <a:srgbClr val="1F232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539D6A-78FB-0B7C-3E2B-768C26BF5FCB}"/>
              </a:ext>
            </a:extLst>
          </p:cNvPr>
          <p:cNvSpPr txBox="1"/>
          <p:nvPr/>
        </p:nvSpPr>
        <p:spPr>
          <a:xfrm>
            <a:off x="4742268" y="1816686"/>
            <a:ext cx="42376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开发一套集成“收银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报表”的轻量级管理系统。</a:t>
            </a:r>
            <a:endParaRPr lang="zh-CN" altLang="en-US" sz="2400" b="0" i="0" dirty="0">
              <a:solidFill>
                <a:srgbClr val="1F232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5F653D-C6FC-601C-9BBA-2985F57188E7}"/>
              </a:ext>
            </a:extLst>
          </p:cNvPr>
          <p:cNvSpPr txBox="1"/>
          <p:nvPr/>
        </p:nvSpPr>
        <p:spPr>
          <a:xfrm>
            <a:off x="5874534" y="1048794"/>
            <a:ext cx="19730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解决方案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7B2BB0-50CD-24D7-04BD-08A029AB5AC0}"/>
              </a:ext>
            </a:extLst>
          </p:cNvPr>
          <p:cNvSpPr txBox="1"/>
          <p:nvPr/>
        </p:nvSpPr>
        <p:spPr>
          <a:xfrm>
            <a:off x="558041" y="4164152"/>
            <a:ext cx="161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技术栈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8FE1C6-A628-0AEB-DA4D-AB3057322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913" y="3840986"/>
            <a:ext cx="754425" cy="75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D48C427-D9F5-C6BA-9508-CCE8FAE6CC3A}"/>
              </a:ext>
            </a:extLst>
          </p:cNvPr>
          <p:cNvSpPr txBox="1"/>
          <p:nvPr/>
        </p:nvSpPr>
        <p:spPr>
          <a:xfrm>
            <a:off x="4110017" y="3656320"/>
            <a:ext cx="2814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3B51BB-98A7-4E52-A695-3657C6982BD5}"/>
              </a:ext>
            </a:extLst>
          </p:cNvPr>
          <p:cNvSpPr txBox="1"/>
          <p:nvPr/>
        </p:nvSpPr>
        <p:spPr>
          <a:xfrm>
            <a:off x="4110016" y="4413959"/>
            <a:ext cx="3148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Tkinter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5E46BF-FC32-EDBD-FE80-50948B5972F3}"/>
              </a:ext>
            </a:extLst>
          </p:cNvPr>
          <p:cNvSpPr txBox="1"/>
          <p:nvPr/>
        </p:nvSpPr>
        <p:spPr>
          <a:xfrm>
            <a:off x="4110017" y="5172636"/>
            <a:ext cx="3833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MySQL 8.0 +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pymysql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5E4FAE0-1541-DEF1-46B8-5677A49F23E0}"/>
              </a:ext>
            </a:extLst>
          </p:cNvPr>
          <p:cNvSpPr txBox="1"/>
          <p:nvPr/>
        </p:nvSpPr>
        <p:spPr>
          <a:xfrm>
            <a:off x="4110017" y="5930275"/>
            <a:ext cx="345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6C5418C6-1BE4-B0E1-D863-AAAF4580DBAC}"/>
              </a:ext>
            </a:extLst>
          </p:cNvPr>
          <p:cNvSpPr/>
          <p:nvPr/>
        </p:nvSpPr>
        <p:spPr>
          <a:xfrm>
            <a:off x="4895850" y="4025652"/>
            <a:ext cx="419100" cy="3883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1932CC85-A706-A9C3-8D07-1540995ACE27}"/>
              </a:ext>
            </a:extLst>
          </p:cNvPr>
          <p:cNvSpPr/>
          <p:nvPr/>
        </p:nvSpPr>
        <p:spPr>
          <a:xfrm>
            <a:off x="4895850" y="4793297"/>
            <a:ext cx="419100" cy="3883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A4360249-65E1-F4A5-E33E-C54ABE670EBB}"/>
              </a:ext>
            </a:extLst>
          </p:cNvPr>
          <p:cNvSpPr/>
          <p:nvPr/>
        </p:nvSpPr>
        <p:spPr>
          <a:xfrm>
            <a:off x="4895850" y="5533000"/>
            <a:ext cx="419100" cy="3883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3D01AFF-9BEB-9D3A-D31E-B67B580B6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763" y="5181604"/>
            <a:ext cx="933337" cy="93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1195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271140-7BA9-24C6-0CF3-CA8FCA0A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CDFDE06C-6D35-6E5C-2E72-88BADD3A7907}"/>
              </a:ext>
            </a:extLst>
          </p:cNvPr>
          <p:cNvSpPr txBox="1">
            <a:spLocks/>
          </p:cNvSpPr>
          <p:nvPr/>
        </p:nvSpPr>
        <p:spPr>
          <a:xfrm>
            <a:off x="8569234" y="6391186"/>
            <a:ext cx="3728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4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4" name="组合 9">
            <a:extLst>
              <a:ext uri="{FF2B5EF4-FFF2-40B4-BE49-F238E27FC236}">
                <a16:creationId xmlns:a16="http://schemas.microsoft.com/office/drawing/2014/main" id="{CBEF14AD-0C71-9001-41AF-2AB0353F1DA7}"/>
              </a:ext>
            </a:extLst>
          </p:cNvPr>
          <p:cNvGrpSpPr/>
          <p:nvPr/>
        </p:nvGrpSpPr>
        <p:grpSpPr bwMode="auto">
          <a:xfrm>
            <a:off x="1331913" y="2692400"/>
            <a:ext cx="1503362" cy="1473200"/>
            <a:chOff x="2008239" y="2389239"/>
            <a:chExt cx="2079522" cy="207952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7D76D5F-4D42-63ED-17C0-75A8E8779CFF}"/>
                </a:ext>
              </a:extLst>
            </p:cNvPr>
            <p:cNvGrpSpPr/>
            <p:nvPr/>
          </p:nvGrpSpPr>
          <p:grpSpPr>
            <a:xfrm>
              <a:off x="2008239" y="2389239"/>
              <a:ext cx="2079522" cy="2079522"/>
              <a:chOff x="7772400" y="3775587"/>
              <a:chExt cx="2079522" cy="2079522"/>
            </a:xfrm>
            <a:solidFill>
              <a:schemeClr val="bg1"/>
            </a:solidFill>
          </p:grpSpPr>
          <p:sp>
            <p:nvSpPr>
              <p:cNvPr id="7" name="空心弧 6">
                <a:extLst>
                  <a:ext uri="{FF2B5EF4-FFF2-40B4-BE49-F238E27FC236}">
                    <a16:creationId xmlns:a16="http://schemas.microsoft.com/office/drawing/2014/main" id="{7B1EC75A-B515-EBBE-BD87-BC15115A5981}"/>
                  </a:ext>
                </a:extLst>
              </p:cNvPr>
              <p:cNvSpPr/>
              <p:nvPr/>
            </p:nvSpPr>
            <p:spPr>
              <a:xfrm>
                <a:off x="7875639" y="3878826"/>
                <a:ext cx="1873045" cy="1873045"/>
              </a:xfrm>
              <a:prstGeom prst="blockArc">
                <a:avLst>
                  <a:gd name="adj1" fmla="val 2593583"/>
                  <a:gd name="adj2" fmla="val 838475"/>
                  <a:gd name="adj3" fmla="val 4553"/>
                </a:avLst>
              </a:prstGeom>
              <a:solidFill>
                <a:schemeClr val="bg1">
                  <a:alpha val="7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空心弧 7">
                <a:extLst>
                  <a:ext uri="{FF2B5EF4-FFF2-40B4-BE49-F238E27FC236}">
                    <a16:creationId xmlns:a16="http://schemas.microsoft.com/office/drawing/2014/main" id="{7CB7F21C-7909-6501-C268-1AA14FDAB010}"/>
                  </a:ext>
                </a:extLst>
              </p:cNvPr>
              <p:cNvSpPr/>
              <p:nvPr/>
            </p:nvSpPr>
            <p:spPr>
              <a:xfrm flipH="1">
                <a:off x="7812957" y="3816144"/>
                <a:ext cx="1998408" cy="1998408"/>
              </a:xfrm>
              <a:prstGeom prst="blockArc">
                <a:avLst>
                  <a:gd name="adj1" fmla="val 14449133"/>
                  <a:gd name="adj2" fmla="val 13621727"/>
                  <a:gd name="adj3" fmla="val 969"/>
                </a:avLst>
              </a:prstGeom>
              <a:solidFill>
                <a:schemeClr val="bg1">
                  <a:alpha val="4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空心弧 8">
                <a:extLst>
                  <a:ext uri="{FF2B5EF4-FFF2-40B4-BE49-F238E27FC236}">
                    <a16:creationId xmlns:a16="http://schemas.microsoft.com/office/drawing/2014/main" id="{89479431-5ED7-E0CA-7FB2-8ECA94F0A985}"/>
                  </a:ext>
                </a:extLst>
              </p:cNvPr>
              <p:cNvSpPr/>
              <p:nvPr/>
            </p:nvSpPr>
            <p:spPr>
              <a:xfrm flipV="1">
                <a:off x="7772400" y="3775587"/>
                <a:ext cx="2079522" cy="2079522"/>
              </a:xfrm>
              <a:prstGeom prst="blockArc">
                <a:avLst>
                  <a:gd name="adj1" fmla="val 2201999"/>
                  <a:gd name="adj2" fmla="val 1076694"/>
                  <a:gd name="adj3" fmla="val 433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文本框 42">
              <a:extLst>
                <a:ext uri="{FF2B5EF4-FFF2-40B4-BE49-F238E27FC236}">
                  <a16:creationId xmlns:a16="http://schemas.microsoft.com/office/drawing/2014/main" id="{5E28DF5C-9DF7-DDC7-DC24-A4FE81C94D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9154" y="2859108"/>
              <a:ext cx="1217691" cy="13045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5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一</a:t>
              </a:r>
            </a:p>
          </p:txBody>
        </p:sp>
      </p:grpSp>
      <p:grpSp>
        <p:nvGrpSpPr>
          <p:cNvPr id="10" name="组合 17">
            <a:extLst>
              <a:ext uri="{FF2B5EF4-FFF2-40B4-BE49-F238E27FC236}">
                <a16:creationId xmlns:a16="http://schemas.microsoft.com/office/drawing/2014/main" id="{E5F65507-921F-37EA-C4DC-2EE64398A3CB}"/>
              </a:ext>
            </a:extLst>
          </p:cNvPr>
          <p:cNvGrpSpPr/>
          <p:nvPr/>
        </p:nvGrpSpPr>
        <p:grpSpPr bwMode="auto">
          <a:xfrm>
            <a:off x="3587931" y="3541712"/>
            <a:ext cx="5354139" cy="98471"/>
            <a:chOff x="6618518" y="1126210"/>
            <a:chExt cx="4822371" cy="103239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8645EFF-7650-13E3-198F-0A59087B9FD2}"/>
                </a:ext>
              </a:extLst>
            </p:cNvPr>
            <p:cNvSpPr/>
            <p:nvPr/>
          </p:nvSpPr>
          <p:spPr>
            <a:xfrm>
              <a:off x="6618518" y="1126210"/>
              <a:ext cx="1982601" cy="10323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2A6C25DA-8F27-C6D5-3798-2BF66DA3C668}"/>
                </a:ext>
              </a:extLst>
            </p:cNvPr>
            <p:cNvCxnSpPr/>
            <p:nvPr/>
          </p:nvCxnSpPr>
          <p:spPr>
            <a:xfrm flipV="1">
              <a:off x="8601119" y="1204036"/>
              <a:ext cx="2839770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4">
            <a:extLst>
              <a:ext uri="{FF2B5EF4-FFF2-40B4-BE49-F238E27FC236}">
                <a16:creationId xmlns:a16="http://schemas.microsoft.com/office/drawing/2014/main" id="{FA2CCE77-D813-ED3D-8D94-7B06BD14B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836" y="2729193"/>
            <a:ext cx="5231313" cy="6998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系统架构设计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​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5B41C9E-2190-51B3-F20A-1EF5805D8A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25" y="0"/>
            <a:ext cx="3603256" cy="6858000"/>
          </a:xfrm>
          <a:prstGeom prst="rect">
            <a:avLst/>
          </a:prstGeom>
        </p:spPr>
      </p:pic>
      <p:grpSp>
        <p:nvGrpSpPr>
          <p:cNvPr id="15" name="组合 9">
            <a:extLst>
              <a:ext uri="{FF2B5EF4-FFF2-40B4-BE49-F238E27FC236}">
                <a16:creationId xmlns:a16="http://schemas.microsoft.com/office/drawing/2014/main" id="{AEEE9DC4-230E-221B-7F84-A1AD4C11DE4F}"/>
              </a:ext>
            </a:extLst>
          </p:cNvPr>
          <p:cNvGrpSpPr/>
          <p:nvPr/>
        </p:nvGrpSpPr>
        <p:grpSpPr bwMode="auto">
          <a:xfrm>
            <a:off x="1013277" y="2619263"/>
            <a:ext cx="1503362" cy="1473200"/>
            <a:chOff x="2008239" y="2389239"/>
            <a:chExt cx="2079522" cy="2079522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771DE3AB-5CB6-1677-78C7-0FE3B1F4C985}"/>
                </a:ext>
              </a:extLst>
            </p:cNvPr>
            <p:cNvGrpSpPr/>
            <p:nvPr/>
          </p:nvGrpSpPr>
          <p:grpSpPr>
            <a:xfrm>
              <a:off x="2008239" y="2389239"/>
              <a:ext cx="2079522" cy="2079522"/>
              <a:chOff x="7772400" y="3775587"/>
              <a:chExt cx="2079522" cy="2079522"/>
            </a:xfrm>
            <a:solidFill>
              <a:schemeClr val="bg1"/>
            </a:solidFill>
          </p:grpSpPr>
          <p:sp>
            <p:nvSpPr>
              <p:cNvPr id="18" name="空心弧 17">
                <a:extLst>
                  <a:ext uri="{FF2B5EF4-FFF2-40B4-BE49-F238E27FC236}">
                    <a16:creationId xmlns:a16="http://schemas.microsoft.com/office/drawing/2014/main" id="{FDC4339C-939F-58F9-A2A2-30A51E74FC5C}"/>
                  </a:ext>
                </a:extLst>
              </p:cNvPr>
              <p:cNvSpPr/>
              <p:nvPr/>
            </p:nvSpPr>
            <p:spPr>
              <a:xfrm>
                <a:off x="7875639" y="3878826"/>
                <a:ext cx="1873045" cy="1873045"/>
              </a:xfrm>
              <a:prstGeom prst="blockArc">
                <a:avLst>
                  <a:gd name="adj1" fmla="val 2593583"/>
                  <a:gd name="adj2" fmla="val 838475"/>
                  <a:gd name="adj3" fmla="val 4553"/>
                </a:avLst>
              </a:prstGeom>
              <a:solidFill>
                <a:schemeClr val="bg1">
                  <a:alpha val="7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空心弧 18">
                <a:extLst>
                  <a:ext uri="{FF2B5EF4-FFF2-40B4-BE49-F238E27FC236}">
                    <a16:creationId xmlns:a16="http://schemas.microsoft.com/office/drawing/2014/main" id="{CA0C326C-1E85-E1CF-5F82-4DA1FCC437C4}"/>
                  </a:ext>
                </a:extLst>
              </p:cNvPr>
              <p:cNvSpPr/>
              <p:nvPr/>
            </p:nvSpPr>
            <p:spPr>
              <a:xfrm flipH="1">
                <a:off x="7812957" y="3816144"/>
                <a:ext cx="1998408" cy="1998408"/>
              </a:xfrm>
              <a:prstGeom prst="blockArc">
                <a:avLst>
                  <a:gd name="adj1" fmla="val 14449133"/>
                  <a:gd name="adj2" fmla="val 13621727"/>
                  <a:gd name="adj3" fmla="val 969"/>
                </a:avLst>
              </a:prstGeom>
              <a:solidFill>
                <a:schemeClr val="bg1">
                  <a:alpha val="4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空心弧 19">
                <a:extLst>
                  <a:ext uri="{FF2B5EF4-FFF2-40B4-BE49-F238E27FC236}">
                    <a16:creationId xmlns:a16="http://schemas.microsoft.com/office/drawing/2014/main" id="{9B945C65-5573-C82B-EB7A-BCA675A87F70}"/>
                  </a:ext>
                </a:extLst>
              </p:cNvPr>
              <p:cNvSpPr/>
              <p:nvPr/>
            </p:nvSpPr>
            <p:spPr>
              <a:xfrm flipV="1">
                <a:off x="7772400" y="3775587"/>
                <a:ext cx="2079522" cy="2079522"/>
              </a:xfrm>
              <a:prstGeom prst="blockArc">
                <a:avLst>
                  <a:gd name="adj1" fmla="val 2201999"/>
                  <a:gd name="adj2" fmla="val 1076694"/>
                  <a:gd name="adj3" fmla="val 433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文本框 42">
              <a:extLst>
                <a:ext uri="{FF2B5EF4-FFF2-40B4-BE49-F238E27FC236}">
                  <a16:creationId xmlns:a16="http://schemas.microsoft.com/office/drawing/2014/main" id="{86863FA6-A835-CF44-627F-0157365F0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9154" y="2760761"/>
              <a:ext cx="255529" cy="13033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endParaRPr lang="zh-CN" altLang="en-US" sz="5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CA9AB08C-8F98-6F12-27EE-DD78FF2CFA45}"/>
              </a:ext>
            </a:extLst>
          </p:cNvPr>
          <p:cNvSpPr txBox="1"/>
          <p:nvPr/>
        </p:nvSpPr>
        <p:spPr>
          <a:xfrm>
            <a:off x="1508143" y="2882461"/>
            <a:ext cx="8803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5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72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E578E72-05C0-414B-B117-6699168807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183"/>
            <a:ext cx="9144000" cy="743059"/>
          </a:xfrm>
          <a:prstGeom prst="rect">
            <a:avLst/>
          </a:prstGeom>
        </p:spPr>
      </p:pic>
      <p:pic>
        <p:nvPicPr>
          <p:cNvPr id="10" name="图片 11">
            <a:extLst>
              <a:ext uri="{FF2B5EF4-FFF2-40B4-BE49-F238E27FC236}">
                <a16:creationId xmlns:a16="http://schemas.microsoft.com/office/drawing/2014/main" id="{7C296040-4D7B-4C99-86EB-2E6BB3635DA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8937" cy="7126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">
            <a:extLst>
              <a:ext uri="{FF2B5EF4-FFF2-40B4-BE49-F238E27FC236}">
                <a16:creationId xmlns:a16="http://schemas.microsoft.com/office/drawing/2014/main" id="{9EAD6D96-F0E4-4DE1-8B90-BEAB04F39A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37" y="105208"/>
            <a:ext cx="1421220" cy="50227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DD8878-7DB3-4B57-8349-1443AA45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9234" y="6391186"/>
            <a:ext cx="372836" cy="365125"/>
          </a:xfrm>
        </p:spPr>
        <p:txBody>
          <a:bodyPr/>
          <a:lstStyle/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5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DCDDAC50-3AB7-4157-9C01-EA9E7E4F7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3059"/>
            <a:ext cx="9109168" cy="47544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FF9933"/>
              </a:gs>
              <a:gs pos="100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zh-CN" altLang="en-US">
              <a:latin typeface="Arial" charset="0"/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1C14A1-3BB0-4522-9D65-68C2FDB12FA0}"/>
              </a:ext>
            </a:extLst>
          </p:cNvPr>
          <p:cNvSpPr/>
          <p:nvPr/>
        </p:nvSpPr>
        <p:spPr>
          <a:xfrm>
            <a:off x="6231347" y="1282377"/>
            <a:ext cx="2264981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分层设计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A51386-0A60-2AB3-D6EE-43BB8BBBC6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" y="981868"/>
            <a:ext cx="5507995" cy="540931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9A441E9-B17E-7D8F-7E8E-33BD6DAB4FB2}"/>
              </a:ext>
            </a:extLst>
          </p:cNvPr>
          <p:cNvSpPr txBox="1"/>
          <p:nvPr/>
        </p:nvSpPr>
        <p:spPr>
          <a:xfrm>
            <a:off x="6079787" y="2149813"/>
            <a:ext cx="2489447" cy="421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表现层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main.py </a:t>
            </a:r>
          </a:p>
          <a:p>
            <a:pPr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负责界面展示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(Login, Dashboard,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ClerkStation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逻辑层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backend.py </a:t>
            </a:r>
          </a:p>
          <a:p>
            <a:pPr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封装业务逻辑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授权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Sales, Product, Member)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数据层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db_setup.py </a:t>
            </a:r>
          </a:p>
          <a:p>
            <a:pPr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负责建表、数据初始化。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用户层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种权限，店长、收银员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908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73DFB4C-EC14-9CD1-F7CE-18819DA8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58FCA46C-76FA-9025-C098-B7E00FE89603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79EB93-0395-4428-945F-D016AFEDB1B6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4880477-8F42-17F4-9E9E-1680FA9528F9}"/>
              </a:ext>
            </a:extLst>
          </p:cNvPr>
          <p:cNvSpPr txBox="1">
            <a:spLocks/>
          </p:cNvSpPr>
          <p:nvPr/>
        </p:nvSpPr>
        <p:spPr>
          <a:xfrm>
            <a:off x="8569234" y="6391186"/>
            <a:ext cx="3728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6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5" name="组合 9">
            <a:extLst>
              <a:ext uri="{FF2B5EF4-FFF2-40B4-BE49-F238E27FC236}">
                <a16:creationId xmlns:a16="http://schemas.microsoft.com/office/drawing/2014/main" id="{65917F89-051C-6C03-45C5-A6B33404913D}"/>
              </a:ext>
            </a:extLst>
          </p:cNvPr>
          <p:cNvGrpSpPr/>
          <p:nvPr/>
        </p:nvGrpSpPr>
        <p:grpSpPr bwMode="auto">
          <a:xfrm>
            <a:off x="1331913" y="2692400"/>
            <a:ext cx="1503362" cy="1473200"/>
            <a:chOff x="2008239" y="2389239"/>
            <a:chExt cx="2079522" cy="2079522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70C8873F-D4D5-2FBC-F6BF-9B0818BB66A9}"/>
                </a:ext>
              </a:extLst>
            </p:cNvPr>
            <p:cNvGrpSpPr/>
            <p:nvPr/>
          </p:nvGrpSpPr>
          <p:grpSpPr>
            <a:xfrm>
              <a:off x="2008239" y="2389239"/>
              <a:ext cx="2079522" cy="2079522"/>
              <a:chOff x="7772400" y="3775587"/>
              <a:chExt cx="2079522" cy="2079522"/>
            </a:xfrm>
            <a:solidFill>
              <a:schemeClr val="bg1"/>
            </a:solidFill>
          </p:grpSpPr>
          <p:sp>
            <p:nvSpPr>
              <p:cNvPr id="8" name="空心弧 7">
                <a:extLst>
                  <a:ext uri="{FF2B5EF4-FFF2-40B4-BE49-F238E27FC236}">
                    <a16:creationId xmlns:a16="http://schemas.microsoft.com/office/drawing/2014/main" id="{4C14B12B-7D18-0E03-FAAF-F4030A7E0C5E}"/>
                  </a:ext>
                </a:extLst>
              </p:cNvPr>
              <p:cNvSpPr/>
              <p:nvPr/>
            </p:nvSpPr>
            <p:spPr>
              <a:xfrm>
                <a:off x="7875639" y="3878826"/>
                <a:ext cx="1873045" cy="1873045"/>
              </a:xfrm>
              <a:prstGeom prst="blockArc">
                <a:avLst>
                  <a:gd name="adj1" fmla="val 2593583"/>
                  <a:gd name="adj2" fmla="val 838475"/>
                  <a:gd name="adj3" fmla="val 4553"/>
                </a:avLst>
              </a:prstGeom>
              <a:solidFill>
                <a:schemeClr val="bg1">
                  <a:alpha val="7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空心弧 8">
                <a:extLst>
                  <a:ext uri="{FF2B5EF4-FFF2-40B4-BE49-F238E27FC236}">
                    <a16:creationId xmlns:a16="http://schemas.microsoft.com/office/drawing/2014/main" id="{4B4DE0CB-6870-7746-D99E-61683CF634DC}"/>
                  </a:ext>
                </a:extLst>
              </p:cNvPr>
              <p:cNvSpPr/>
              <p:nvPr/>
            </p:nvSpPr>
            <p:spPr>
              <a:xfrm flipH="1">
                <a:off x="7812957" y="3816144"/>
                <a:ext cx="1998408" cy="1998408"/>
              </a:xfrm>
              <a:prstGeom prst="blockArc">
                <a:avLst>
                  <a:gd name="adj1" fmla="val 14449133"/>
                  <a:gd name="adj2" fmla="val 13621727"/>
                  <a:gd name="adj3" fmla="val 969"/>
                </a:avLst>
              </a:prstGeom>
              <a:solidFill>
                <a:schemeClr val="bg1">
                  <a:alpha val="4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空心弧 9">
                <a:extLst>
                  <a:ext uri="{FF2B5EF4-FFF2-40B4-BE49-F238E27FC236}">
                    <a16:creationId xmlns:a16="http://schemas.microsoft.com/office/drawing/2014/main" id="{3F00DBEE-2855-0904-27D8-3FC03A1D55E1}"/>
                  </a:ext>
                </a:extLst>
              </p:cNvPr>
              <p:cNvSpPr/>
              <p:nvPr/>
            </p:nvSpPr>
            <p:spPr>
              <a:xfrm flipV="1">
                <a:off x="7772400" y="3775587"/>
                <a:ext cx="2079522" cy="2079522"/>
              </a:xfrm>
              <a:prstGeom prst="blockArc">
                <a:avLst>
                  <a:gd name="adj1" fmla="val 2201999"/>
                  <a:gd name="adj2" fmla="val 1076694"/>
                  <a:gd name="adj3" fmla="val 433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文本框 42">
              <a:extLst>
                <a:ext uri="{FF2B5EF4-FFF2-40B4-BE49-F238E27FC236}">
                  <a16:creationId xmlns:a16="http://schemas.microsoft.com/office/drawing/2014/main" id="{A23933A2-A39A-AAEC-3773-54B70FA10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9154" y="2859108"/>
              <a:ext cx="1217691" cy="13045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5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一</a:t>
              </a:r>
            </a:p>
          </p:txBody>
        </p:sp>
      </p:grpSp>
      <p:grpSp>
        <p:nvGrpSpPr>
          <p:cNvPr id="11" name="组合 17">
            <a:extLst>
              <a:ext uri="{FF2B5EF4-FFF2-40B4-BE49-F238E27FC236}">
                <a16:creationId xmlns:a16="http://schemas.microsoft.com/office/drawing/2014/main" id="{8E176C12-2BFE-626D-85A9-3F64563FCCF5}"/>
              </a:ext>
            </a:extLst>
          </p:cNvPr>
          <p:cNvGrpSpPr/>
          <p:nvPr/>
        </p:nvGrpSpPr>
        <p:grpSpPr bwMode="auto">
          <a:xfrm>
            <a:off x="3587931" y="3541712"/>
            <a:ext cx="5354139" cy="98471"/>
            <a:chOff x="6618518" y="1126210"/>
            <a:chExt cx="4822371" cy="10323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0B2E1FB-A08B-C14A-ABDA-171501E60A80}"/>
                </a:ext>
              </a:extLst>
            </p:cNvPr>
            <p:cNvSpPr/>
            <p:nvPr/>
          </p:nvSpPr>
          <p:spPr>
            <a:xfrm>
              <a:off x="6618518" y="1126210"/>
              <a:ext cx="1982601" cy="10323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C641543-86F6-0034-6E51-A4B3B445D6C1}"/>
                </a:ext>
              </a:extLst>
            </p:cNvPr>
            <p:cNvCxnSpPr/>
            <p:nvPr/>
          </p:nvCxnSpPr>
          <p:spPr>
            <a:xfrm flipV="1">
              <a:off x="8601119" y="1204036"/>
              <a:ext cx="2839770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矩形 4">
            <a:extLst>
              <a:ext uri="{FF2B5EF4-FFF2-40B4-BE49-F238E27FC236}">
                <a16:creationId xmlns:a16="http://schemas.microsoft.com/office/drawing/2014/main" id="{F988A2BE-6DFF-FA0F-9BCB-8AF23AE63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836" y="2779598"/>
            <a:ext cx="5117250" cy="5738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功能展示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店长管理端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ED23AF2-9A07-3A5A-D5F5-570D529B91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25" y="0"/>
            <a:ext cx="3603256" cy="6858000"/>
          </a:xfrm>
          <a:prstGeom prst="rect">
            <a:avLst/>
          </a:prstGeom>
        </p:spPr>
      </p:pic>
      <p:grpSp>
        <p:nvGrpSpPr>
          <p:cNvPr id="16" name="组合 9">
            <a:extLst>
              <a:ext uri="{FF2B5EF4-FFF2-40B4-BE49-F238E27FC236}">
                <a16:creationId xmlns:a16="http://schemas.microsoft.com/office/drawing/2014/main" id="{6879E38E-7314-510E-ECEC-43B15A2FF120}"/>
              </a:ext>
            </a:extLst>
          </p:cNvPr>
          <p:cNvGrpSpPr/>
          <p:nvPr/>
        </p:nvGrpSpPr>
        <p:grpSpPr bwMode="auto">
          <a:xfrm>
            <a:off x="1013277" y="2619263"/>
            <a:ext cx="1503362" cy="1473200"/>
            <a:chOff x="2008239" y="2389239"/>
            <a:chExt cx="2079522" cy="2079522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6D9BFEAA-7F45-8CBB-6180-113B0E9599DB}"/>
                </a:ext>
              </a:extLst>
            </p:cNvPr>
            <p:cNvGrpSpPr/>
            <p:nvPr/>
          </p:nvGrpSpPr>
          <p:grpSpPr>
            <a:xfrm>
              <a:off x="2008239" y="2389239"/>
              <a:ext cx="2079522" cy="2079522"/>
              <a:chOff x="7772400" y="3775587"/>
              <a:chExt cx="2079522" cy="2079522"/>
            </a:xfrm>
            <a:solidFill>
              <a:schemeClr val="bg1"/>
            </a:solidFill>
          </p:grpSpPr>
          <p:sp>
            <p:nvSpPr>
              <p:cNvPr id="19" name="空心弧 18">
                <a:extLst>
                  <a:ext uri="{FF2B5EF4-FFF2-40B4-BE49-F238E27FC236}">
                    <a16:creationId xmlns:a16="http://schemas.microsoft.com/office/drawing/2014/main" id="{E419B0B1-5866-4430-4404-14111FE7ED37}"/>
                  </a:ext>
                </a:extLst>
              </p:cNvPr>
              <p:cNvSpPr/>
              <p:nvPr/>
            </p:nvSpPr>
            <p:spPr>
              <a:xfrm>
                <a:off x="7875639" y="3878826"/>
                <a:ext cx="1873045" cy="1873045"/>
              </a:xfrm>
              <a:prstGeom prst="blockArc">
                <a:avLst>
                  <a:gd name="adj1" fmla="val 2593583"/>
                  <a:gd name="adj2" fmla="val 838475"/>
                  <a:gd name="adj3" fmla="val 4553"/>
                </a:avLst>
              </a:prstGeom>
              <a:solidFill>
                <a:schemeClr val="bg1">
                  <a:alpha val="7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空心弧 19">
                <a:extLst>
                  <a:ext uri="{FF2B5EF4-FFF2-40B4-BE49-F238E27FC236}">
                    <a16:creationId xmlns:a16="http://schemas.microsoft.com/office/drawing/2014/main" id="{FF6E91EB-237D-7415-D14C-2651FDAE8346}"/>
                  </a:ext>
                </a:extLst>
              </p:cNvPr>
              <p:cNvSpPr/>
              <p:nvPr/>
            </p:nvSpPr>
            <p:spPr>
              <a:xfrm flipH="1">
                <a:off x="7812957" y="3816144"/>
                <a:ext cx="1998408" cy="1998408"/>
              </a:xfrm>
              <a:prstGeom prst="blockArc">
                <a:avLst>
                  <a:gd name="adj1" fmla="val 14449133"/>
                  <a:gd name="adj2" fmla="val 13621727"/>
                  <a:gd name="adj3" fmla="val 969"/>
                </a:avLst>
              </a:prstGeom>
              <a:solidFill>
                <a:schemeClr val="bg1">
                  <a:alpha val="4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空心弧 20">
                <a:extLst>
                  <a:ext uri="{FF2B5EF4-FFF2-40B4-BE49-F238E27FC236}">
                    <a16:creationId xmlns:a16="http://schemas.microsoft.com/office/drawing/2014/main" id="{A56F1822-7858-9834-BA13-FAED4A6F2E5E}"/>
                  </a:ext>
                </a:extLst>
              </p:cNvPr>
              <p:cNvSpPr/>
              <p:nvPr/>
            </p:nvSpPr>
            <p:spPr>
              <a:xfrm flipV="1">
                <a:off x="7772400" y="3775587"/>
                <a:ext cx="2079522" cy="2079522"/>
              </a:xfrm>
              <a:prstGeom prst="blockArc">
                <a:avLst>
                  <a:gd name="adj1" fmla="val 2201999"/>
                  <a:gd name="adj2" fmla="val 1076694"/>
                  <a:gd name="adj3" fmla="val 433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文本框 42">
              <a:extLst>
                <a:ext uri="{FF2B5EF4-FFF2-40B4-BE49-F238E27FC236}">
                  <a16:creationId xmlns:a16="http://schemas.microsoft.com/office/drawing/2014/main" id="{EBAE2E47-B468-18F2-58B4-9B6A92D4E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9154" y="2760761"/>
              <a:ext cx="255529" cy="13033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endParaRPr lang="zh-CN" altLang="en-US" sz="5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814EFBE3-26A3-E006-A87C-C09E84426BC2}"/>
              </a:ext>
            </a:extLst>
          </p:cNvPr>
          <p:cNvSpPr txBox="1"/>
          <p:nvPr/>
        </p:nvSpPr>
        <p:spPr>
          <a:xfrm>
            <a:off x="1508143" y="2882461"/>
            <a:ext cx="8803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en-US" sz="5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486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E578E72-05C0-414B-B117-6699168807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183"/>
            <a:ext cx="9144000" cy="743059"/>
          </a:xfrm>
          <a:prstGeom prst="rect">
            <a:avLst/>
          </a:prstGeom>
        </p:spPr>
      </p:pic>
      <p:pic>
        <p:nvPicPr>
          <p:cNvPr id="10" name="图片 11">
            <a:extLst>
              <a:ext uri="{FF2B5EF4-FFF2-40B4-BE49-F238E27FC236}">
                <a16:creationId xmlns:a16="http://schemas.microsoft.com/office/drawing/2014/main" id="{7C296040-4D7B-4C99-86EB-2E6BB3635DA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8937" cy="7126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">
            <a:extLst>
              <a:ext uri="{FF2B5EF4-FFF2-40B4-BE49-F238E27FC236}">
                <a16:creationId xmlns:a16="http://schemas.microsoft.com/office/drawing/2014/main" id="{9EAD6D96-F0E4-4DE1-8B90-BEAB04F39A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37" y="105208"/>
            <a:ext cx="1421220" cy="50227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DD8878-7DB3-4B57-8349-1443AA45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9234" y="6391186"/>
            <a:ext cx="372836" cy="365125"/>
          </a:xfrm>
        </p:spPr>
        <p:txBody>
          <a:bodyPr/>
          <a:lstStyle/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7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DCDDAC50-3AB7-4157-9C01-EA9E7E4F7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3059"/>
            <a:ext cx="9109168" cy="47544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FF9933"/>
              </a:gs>
              <a:gs pos="100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zh-CN" altLang="en-US">
              <a:latin typeface="Arial" charset="0"/>
              <a:ea typeface="隶书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C527EFC-F8B4-4F27-AB30-2C13844D3BE7}"/>
              </a:ext>
            </a:extLst>
          </p:cNvPr>
          <p:cNvSpPr/>
          <p:nvPr/>
        </p:nvSpPr>
        <p:spPr>
          <a:xfrm>
            <a:off x="796987" y="956229"/>
            <a:ext cx="187743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长春理工大学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10082F-1A1B-F03A-B5BE-67EDFF1286C5}"/>
              </a:ext>
            </a:extLst>
          </p:cNvPr>
          <p:cNvSpPr txBox="1"/>
          <p:nvPr/>
        </p:nvSpPr>
        <p:spPr>
          <a:xfrm>
            <a:off x="3656262" y="879203"/>
            <a:ext cx="18847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库存管理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B1FC30-2D42-501C-A9E3-3B5D19D20A41}"/>
              </a:ext>
            </a:extLst>
          </p:cNvPr>
          <p:cNvSpPr txBox="1"/>
          <p:nvPr/>
        </p:nvSpPr>
        <p:spPr>
          <a:xfrm>
            <a:off x="889480" y="1916960"/>
            <a:ext cx="3036763" cy="335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0" i="0" dirty="0">
                <a:solidFill>
                  <a:srgbClr val="1F232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支持商品的增删改查</a:t>
            </a:r>
            <a:endParaRPr lang="en-US" altLang="zh-CN" sz="2400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预警机制：</a:t>
            </a:r>
            <a:endParaRPr lang="en-US" altLang="zh-CN" sz="2400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自动筛选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库存不足商品，显示红色。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商品临期，显示黄色。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F90E3AB-AFAB-69C3-4844-2552E02E4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8660" y="1552578"/>
            <a:ext cx="4183652" cy="308554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205AB0C-F99D-25EA-C530-F7C798CA63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9936" y="3572378"/>
            <a:ext cx="1564090" cy="28752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EE16ADE-BBCF-C4AD-3D45-D50AB8160F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4026" y="3529566"/>
            <a:ext cx="2995208" cy="88684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9697EF2-24D0-3748-3491-4490A43CAD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7719" y="4700852"/>
            <a:ext cx="2999064" cy="161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FDD98829-CF88-3377-7406-3E9DEF0A9E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183"/>
            <a:ext cx="9144000" cy="743059"/>
          </a:xfrm>
          <a:prstGeom prst="rect">
            <a:avLst/>
          </a:prstGeom>
        </p:spPr>
      </p:pic>
      <p:pic>
        <p:nvPicPr>
          <p:cNvPr id="23" name="图片 11">
            <a:extLst>
              <a:ext uri="{FF2B5EF4-FFF2-40B4-BE49-F238E27FC236}">
                <a16:creationId xmlns:a16="http://schemas.microsoft.com/office/drawing/2014/main" id="{71E21A79-B1D8-BCD5-E2D4-7CD4CC29F11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8937" cy="7126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图片 1">
            <a:extLst>
              <a:ext uri="{FF2B5EF4-FFF2-40B4-BE49-F238E27FC236}">
                <a16:creationId xmlns:a16="http://schemas.microsoft.com/office/drawing/2014/main" id="{408C9D29-0D78-DD3E-9CE0-906B95BA83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37" y="105208"/>
            <a:ext cx="1421220" cy="50227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灯片编号占位符 1">
            <a:extLst>
              <a:ext uri="{FF2B5EF4-FFF2-40B4-BE49-F238E27FC236}">
                <a16:creationId xmlns:a16="http://schemas.microsoft.com/office/drawing/2014/main" id="{3CFD51E1-081E-1F4B-9CE3-FE9F486D8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9234" y="6391186"/>
            <a:ext cx="372836" cy="365125"/>
          </a:xfrm>
        </p:spPr>
        <p:txBody>
          <a:bodyPr/>
          <a:lstStyle/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8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6B9CAC89-F10D-AFFA-4C91-C47BB1AA8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3059"/>
            <a:ext cx="9109168" cy="47544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FF9933"/>
              </a:gs>
              <a:gs pos="100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zh-CN" altLang="en-US">
              <a:latin typeface="Arial" charset="0"/>
              <a:ea typeface="隶书" pitchFamily="49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B27737D-00CA-9560-E071-6C9965969397}"/>
              </a:ext>
            </a:extLst>
          </p:cNvPr>
          <p:cNvSpPr/>
          <p:nvPr/>
        </p:nvSpPr>
        <p:spPr>
          <a:xfrm>
            <a:off x="796987" y="956229"/>
            <a:ext cx="187743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长春理工大学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74F4664-3F5C-5F9B-F11C-07D98771BAA0}"/>
              </a:ext>
            </a:extLst>
          </p:cNvPr>
          <p:cNvSpPr txBox="1"/>
          <p:nvPr/>
        </p:nvSpPr>
        <p:spPr>
          <a:xfrm>
            <a:off x="2789022" y="983191"/>
            <a:ext cx="3531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经营数据及可视化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6FB3F3C-3EC2-3550-224C-971A9F3A9543}"/>
              </a:ext>
            </a:extLst>
          </p:cNvPr>
          <p:cNvSpPr txBox="1"/>
          <p:nvPr/>
        </p:nvSpPr>
        <p:spPr>
          <a:xfrm>
            <a:off x="453233" y="2331083"/>
            <a:ext cx="3126545" cy="335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实时生成“销售分类饼图”与“今日销售走势折线图”。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自动计算总销售额与净利润。生成销量排行榜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635A48DC-CF44-A0AC-C44A-60F13B0B2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5563" y="2100147"/>
            <a:ext cx="5443605" cy="401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5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BA055C6-53C7-53D8-4624-20EB47C802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183"/>
            <a:ext cx="9144000" cy="743059"/>
          </a:xfrm>
          <a:prstGeom prst="rect">
            <a:avLst/>
          </a:prstGeom>
        </p:spPr>
      </p:pic>
      <p:pic>
        <p:nvPicPr>
          <p:cNvPr id="4" name="图片 11">
            <a:extLst>
              <a:ext uri="{FF2B5EF4-FFF2-40B4-BE49-F238E27FC236}">
                <a16:creationId xmlns:a16="http://schemas.microsoft.com/office/drawing/2014/main" id="{8AA5D6C5-C211-72FA-93CE-40BA6E44D99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8937" cy="7126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1">
            <a:extLst>
              <a:ext uri="{FF2B5EF4-FFF2-40B4-BE49-F238E27FC236}">
                <a16:creationId xmlns:a16="http://schemas.microsoft.com/office/drawing/2014/main" id="{15A3390F-474A-B8DE-98BF-2F373BBEFF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37" y="105208"/>
            <a:ext cx="1421220" cy="50227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DFFD35FA-CCCA-FD78-389D-8DDE4D4C3087}"/>
              </a:ext>
            </a:extLst>
          </p:cNvPr>
          <p:cNvSpPr txBox="1">
            <a:spLocks/>
          </p:cNvSpPr>
          <p:nvPr/>
        </p:nvSpPr>
        <p:spPr>
          <a:xfrm>
            <a:off x="8569234" y="6391186"/>
            <a:ext cx="3728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9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E498E09-D4A8-4057-B8B8-4AA30D504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3059"/>
            <a:ext cx="9109168" cy="47544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FF9933"/>
              </a:gs>
              <a:gs pos="100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zh-CN" altLang="en-US">
              <a:latin typeface="Arial" charset="0"/>
              <a:ea typeface="隶书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FB4FA4-F25B-CE62-93CA-5A8B5DB77245}"/>
              </a:ext>
            </a:extLst>
          </p:cNvPr>
          <p:cNvSpPr/>
          <p:nvPr/>
        </p:nvSpPr>
        <p:spPr>
          <a:xfrm>
            <a:off x="796987" y="956229"/>
            <a:ext cx="187743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长春理工大学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B0CE4A-AD5D-3F4D-8BE4-15586DE193FC}"/>
              </a:ext>
            </a:extLst>
          </p:cNvPr>
          <p:cNvSpPr txBox="1"/>
          <p:nvPr/>
        </p:nvSpPr>
        <p:spPr>
          <a:xfrm>
            <a:off x="2789022" y="983191"/>
            <a:ext cx="3531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审计与员工管理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BB4E29-A95D-FEE0-F8FF-0DBEFF045221}"/>
              </a:ext>
            </a:extLst>
          </p:cNvPr>
          <p:cNvSpPr txBox="1"/>
          <p:nvPr/>
        </p:nvSpPr>
        <p:spPr>
          <a:xfrm>
            <a:off x="513999" y="1839115"/>
            <a:ext cx="3126545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查看所有流水，监控订单修改记录。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员工账号管理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3604671-D4D2-CF5C-9244-20E6C1A8F2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040589"/>
            <a:ext cx="3969719" cy="292776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BE3601C-BF32-DBDB-ABF0-9E6870506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468" y="3622139"/>
            <a:ext cx="4202349" cy="309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4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098AD7-5614-62AA-3BE3-1E83977F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20C693C7-2B1B-C2B4-A155-492F090C622D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79EB93-0395-4428-945F-D016AFEDB1B6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038E3C48-237A-23C8-9B0C-AEC6824B808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79EB93-0395-4428-945F-D016AFEDB1B6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0FFBB7FC-1B95-703F-A84B-114410C097EC}"/>
              </a:ext>
            </a:extLst>
          </p:cNvPr>
          <p:cNvSpPr txBox="1">
            <a:spLocks/>
          </p:cNvSpPr>
          <p:nvPr/>
        </p:nvSpPr>
        <p:spPr>
          <a:xfrm>
            <a:off x="8420643" y="6391186"/>
            <a:ext cx="521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10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6" name="组合 9">
            <a:extLst>
              <a:ext uri="{FF2B5EF4-FFF2-40B4-BE49-F238E27FC236}">
                <a16:creationId xmlns:a16="http://schemas.microsoft.com/office/drawing/2014/main" id="{82DFCBE6-03F7-50BF-4BF6-5187A39495B8}"/>
              </a:ext>
            </a:extLst>
          </p:cNvPr>
          <p:cNvGrpSpPr/>
          <p:nvPr/>
        </p:nvGrpSpPr>
        <p:grpSpPr bwMode="auto">
          <a:xfrm>
            <a:off x="1331913" y="2692400"/>
            <a:ext cx="1503362" cy="1473200"/>
            <a:chOff x="2008239" y="2389239"/>
            <a:chExt cx="2079522" cy="2079522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44875CF-EACC-DD27-EA31-FFC3CEE7D977}"/>
                </a:ext>
              </a:extLst>
            </p:cNvPr>
            <p:cNvGrpSpPr/>
            <p:nvPr/>
          </p:nvGrpSpPr>
          <p:grpSpPr>
            <a:xfrm>
              <a:off x="2008239" y="2389239"/>
              <a:ext cx="2079522" cy="2079522"/>
              <a:chOff x="7772400" y="3775587"/>
              <a:chExt cx="2079522" cy="2079522"/>
            </a:xfrm>
            <a:solidFill>
              <a:schemeClr val="bg1"/>
            </a:solidFill>
          </p:grpSpPr>
          <p:sp>
            <p:nvSpPr>
              <p:cNvPr id="9" name="空心弧 8">
                <a:extLst>
                  <a:ext uri="{FF2B5EF4-FFF2-40B4-BE49-F238E27FC236}">
                    <a16:creationId xmlns:a16="http://schemas.microsoft.com/office/drawing/2014/main" id="{4C4FAAE9-2473-AFD6-811E-0508C1A9DCB0}"/>
                  </a:ext>
                </a:extLst>
              </p:cNvPr>
              <p:cNvSpPr/>
              <p:nvPr/>
            </p:nvSpPr>
            <p:spPr>
              <a:xfrm>
                <a:off x="7875639" y="3878826"/>
                <a:ext cx="1873045" cy="1873045"/>
              </a:xfrm>
              <a:prstGeom prst="blockArc">
                <a:avLst>
                  <a:gd name="adj1" fmla="val 2593583"/>
                  <a:gd name="adj2" fmla="val 838475"/>
                  <a:gd name="adj3" fmla="val 4553"/>
                </a:avLst>
              </a:prstGeom>
              <a:solidFill>
                <a:schemeClr val="bg1">
                  <a:alpha val="7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空心弧 9">
                <a:extLst>
                  <a:ext uri="{FF2B5EF4-FFF2-40B4-BE49-F238E27FC236}">
                    <a16:creationId xmlns:a16="http://schemas.microsoft.com/office/drawing/2014/main" id="{0706341B-679A-5C58-FA49-40C7CABDEE29}"/>
                  </a:ext>
                </a:extLst>
              </p:cNvPr>
              <p:cNvSpPr/>
              <p:nvPr/>
            </p:nvSpPr>
            <p:spPr>
              <a:xfrm flipH="1">
                <a:off x="7812957" y="3816144"/>
                <a:ext cx="1998408" cy="1998408"/>
              </a:xfrm>
              <a:prstGeom prst="blockArc">
                <a:avLst>
                  <a:gd name="adj1" fmla="val 14449133"/>
                  <a:gd name="adj2" fmla="val 13621727"/>
                  <a:gd name="adj3" fmla="val 969"/>
                </a:avLst>
              </a:prstGeom>
              <a:solidFill>
                <a:schemeClr val="bg1">
                  <a:alpha val="4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空心弧 10">
                <a:extLst>
                  <a:ext uri="{FF2B5EF4-FFF2-40B4-BE49-F238E27FC236}">
                    <a16:creationId xmlns:a16="http://schemas.microsoft.com/office/drawing/2014/main" id="{A7D7360A-F431-07A6-B811-1754C5DD2B46}"/>
                  </a:ext>
                </a:extLst>
              </p:cNvPr>
              <p:cNvSpPr/>
              <p:nvPr/>
            </p:nvSpPr>
            <p:spPr>
              <a:xfrm flipV="1">
                <a:off x="7772400" y="3775587"/>
                <a:ext cx="2079522" cy="2079522"/>
              </a:xfrm>
              <a:prstGeom prst="blockArc">
                <a:avLst>
                  <a:gd name="adj1" fmla="val 2201999"/>
                  <a:gd name="adj2" fmla="val 1076694"/>
                  <a:gd name="adj3" fmla="val 433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文本框 42">
              <a:extLst>
                <a:ext uri="{FF2B5EF4-FFF2-40B4-BE49-F238E27FC236}">
                  <a16:creationId xmlns:a16="http://schemas.microsoft.com/office/drawing/2014/main" id="{B5595841-67A5-3920-C58B-BCB53144A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9154" y="2859108"/>
              <a:ext cx="1217691" cy="13045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5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一</a:t>
              </a:r>
            </a:p>
          </p:txBody>
        </p:sp>
      </p:grpSp>
      <p:grpSp>
        <p:nvGrpSpPr>
          <p:cNvPr id="12" name="组合 17">
            <a:extLst>
              <a:ext uri="{FF2B5EF4-FFF2-40B4-BE49-F238E27FC236}">
                <a16:creationId xmlns:a16="http://schemas.microsoft.com/office/drawing/2014/main" id="{E4B44B22-ADB6-383E-8AA6-218D53DB9AB1}"/>
              </a:ext>
            </a:extLst>
          </p:cNvPr>
          <p:cNvGrpSpPr/>
          <p:nvPr/>
        </p:nvGrpSpPr>
        <p:grpSpPr bwMode="auto">
          <a:xfrm>
            <a:off x="3587931" y="3541712"/>
            <a:ext cx="5354139" cy="98471"/>
            <a:chOff x="6618518" y="1126210"/>
            <a:chExt cx="4822371" cy="10323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0827369-351E-4B1D-DF2D-15E1DDE99087}"/>
                </a:ext>
              </a:extLst>
            </p:cNvPr>
            <p:cNvSpPr/>
            <p:nvPr/>
          </p:nvSpPr>
          <p:spPr>
            <a:xfrm>
              <a:off x="6618518" y="1126210"/>
              <a:ext cx="1982601" cy="10323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E3BB87C-CF62-8F38-0C82-A9B5DE442607}"/>
                </a:ext>
              </a:extLst>
            </p:cNvPr>
            <p:cNvCxnSpPr/>
            <p:nvPr/>
          </p:nvCxnSpPr>
          <p:spPr>
            <a:xfrm flipV="1">
              <a:off x="8601119" y="1204036"/>
              <a:ext cx="2839770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4">
            <a:extLst>
              <a:ext uri="{FF2B5EF4-FFF2-40B4-BE49-F238E27FC236}">
                <a16:creationId xmlns:a16="http://schemas.microsoft.com/office/drawing/2014/main" id="{7CB56B98-07BD-5209-089F-A20C560DF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241" y="2832643"/>
            <a:ext cx="4875402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功能展示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收银员工作台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DDFE9E9-7E82-CBFF-9376-096526C529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25" y="0"/>
            <a:ext cx="3603256" cy="6858000"/>
          </a:xfrm>
          <a:prstGeom prst="rect">
            <a:avLst/>
          </a:prstGeom>
        </p:spPr>
      </p:pic>
      <p:grpSp>
        <p:nvGrpSpPr>
          <p:cNvPr id="17" name="组合 9">
            <a:extLst>
              <a:ext uri="{FF2B5EF4-FFF2-40B4-BE49-F238E27FC236}">
                <a16:creationId xmlns:a16="http://schemas.microsoft.com/office/drawing/2014/main" id="{F68717AF-C5E7-7413-DAF3-5453E02F53EC}"/>
              </a:ext>
            </a:extLst>
          </p:cNvPr>
          <p:cNvGrpSpPr/>
          <p:nvPr/>
        </p:nvGrpSpPr>
        <p:grpSpPr bwMode="auto">
          <a:xfrm>
            <a:off x="1013277" y="2619263"/>
            <a:ext cx="1503362" cy="1473200"/>
            <a:chOff x="2008239" y="2389239"/>
            <a:chExt cx="2079522" cy="2079522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A943ABC-0326-3D98-80EF-168F89D11AB2}"/>
                </a:ext>
              </a:extLst>
            </p:cNvPr>
            <p:cNvGrpSpPr/>
            <p:nvPr/>
          </p:nvGrpSpPr>
          <p:grpSpPr>
            <a:xfrm>
              <a:off x="2008239" y="2389239"/>
              <a:ext cx="2079522" cy="2079522"/>
              <a:chOff x="7772400" y="3775587"/>
              <a:chExt cx="2079522" cy="2079522"/>
            </a:xfrm>
            <a:solidFill>
              <a:schemeClr val="bg1"/>
            </a:solidFill>
          </p:grpSpPr>
          <p:sp>
            <p:nvSpPr>
              <p:cNvPr id="20" name="空心弧 19">
                <a:extLst>
                  <a:ext uri="{FF2B5EF4-FFF2-40B4-BE49-F238E27FC236}">
                    <a16:creationId xmlns:a16="http://schemas.microsoft.com/office/drawing/2014/main" id="{1C2959F8-A36F-D6AD-2797-69E8062D71AE}"/>
                  </a:ext>
                </a:extLst>
              </p:cNvPr>
              <p:cNvSpPr/>
              <p:nvPr/>
            </p:nvSpPr>
            <p:spPr>
              <a:xfrm>
                <a:off x="7875639" y="3878826"/>
                <a:ext cx="1873045" cy="1873045"/>
              </a:xfrm>
              <a:prstGeom prst="blockArc">
                <a:avLst>
                  <a:gd name="adj1" fmla="val 2593583"/>
                  <a:gd name="adj2" fmla="val 838475"/>
                  <a:gd name="adj3" fmla="val 4553"/>
                </a:avLst>
              </a:prstGeom>
              <a:solidFill>
                <a:schemeClr val="bg1">
                  <a:alpha val="7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空心弧 20">
                <a:extLst>
                  <a:ext uri="{FF2B5EF4-FFF2-40B4-BE49-F238E27FC236}">
                    <a16:creationId xmlns:a16="http://schemas.microsoft.com/office/drawing/2014/main" id="{54245A06-08F7-3E7D-1C4F-FEA015AA85CC}"/>
                  </a:ext>
                </a:extLst>
              </p:cNvPr>
              <p:cNvSpPr/>
              <p:nvPr/>
            </p:nvSpPr>
            <p:spPr>
              <a:xfrm flipH="1">
                <a:off x="7812957" y="3816144"/>
                <a:ext cx="1998408" cy="1998408"/>
              </a:xfrm>
              <a:prstGeom prst="blockArc">
                <a:avLst>
                  <a:gd name="adj1" fmla="val 14449133"/>
                  <a:gd name="adj2" fmla="val 13621727"/>
                  <a:gd name="adj3" fmla="val 969"/>
                </a:avLst>
              </a:prstGeom>
              <a:solidFill>
                <a:schemeClr val="bg1">
                  <a:alpha val="4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空心弧 21">
                <a:extLst>
                  <a:ext uri="{FF2B5EF4-FFF2-40B4-BE49-F238E27FC236}">
                    <a16:creationId xmlns:a16="http://schemas.microsoft.com/office/drawing/2014/main" id="{97C43093-746D-C55D-8D18-4C45E38D0F9C}"/>
                  </a:ext>
                </a:extLst>
              </p:cNvPr>
              <p:cNvSpPr/>
              <p:nvPr/>
            </p:nvSpPr>
            <p:spPr>
              <a:xfrm flipV="1">
                <a:off x="7772400" y="3775587"/>
                <a:ext cx="2079522" cy="2079522"/>
              </a:xfrm>
              <a:prstGeom prst="blockArc">
                <a:avLst>
                  <a:gd name="adj1" fmla="val 2201999"/>
                  <a:gd name="adj2" fmla="val 1076694"/>
                  <a:gd name="adj3" fmla="val 433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文本框 42">
              <a:extLst>
                <a:ext uri="{FF2B5EF4-FFF2-40B4-BE49-F238E27FC236}">
                  <a16:creationId xmlns:a16="http://schemas.microsoft.com/office/drawing/2014/main" id="{337DAFD3-9446-91AA-5DAF-AB47BA34E5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9154" y="2760761"/>
              <a:ext cx="255529" cy="13033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endParaRPr lang="zh-CN" altLang="en-US" sz="5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DAC7C580-65C7-A7A0-760D-AF4E4D536139}"/>
              </a:ext>
            </a:extLst>
          </p:cNvPr>
          <p:cNvSpPr txBox="1"/>
          <p:nvPr/>
        </p:nvSpPr>
        <p:spPr>
          <a:xfrm>
            <a:off x="1508143" y="2882461"/>
            <a:ext cx="8803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zh-CN" altLang="en-US" sz="5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492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AF5E9A4B-26EE-75BE-5517-7B980FB1B4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183"/>
            <a:ext cx="9144000" cy="743059"/>
          </a:xfrm>
          <a:prstGeom prst="rect">
            <a:avLst/>
          </a:prstGeom>
        </p:spPr>
      </p:pic>
      <p:pic>
        <p:nvPicPr>
          <p:cNvPr id="27" name="图片 11">
            <a:extLst>
              <a:ext uri="{FF2B5EF4-FFF2-40B4-BE49-F238E27FC236}">
                <a16:creationId xmlns:a16="http://schemas.microsoft.com/office/drawing/2014/main" id="{4AB5E804-5A5F-938C-90D4-B1A517075E98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8937" cy="7126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图片 1">
            <a:extLst>
              <a:ext uri="{FF2B5EF4-FFF2-40B4-BE49-F238E27FC236}">
                <a16:creationId xmlns:a16="http://schemas.microsoft.com/office/drawing/2014/main" id="{B2EA8B24-70EC-BA81-7C1E-6CB4A8CB4C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37" y="105208"/>
            <a:ext cx="1421220" cy="50227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灯片编号占位符 1">
            <a:extLst>
              <a:ext uri="{FF2B5EF4-FFF2-40B4-BE49-F238E27FC236}">
                <a16:creationId xmlns:a16="http://schemas.microsoft.com/office/drawing/2014/main" id="{589DD3FA-5CEC-0B9B-0998-BD87FCC3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9161" y="6391186"/>
            <a:ext cx="572909" cy="365125"/>
          </a:xfrm>
        </p:spPr>
        <p:txBody>
          <a:bodyPr/>
          <a:lstStyle/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11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CA292A4F-51D5-19E6-CCA9-EB3564088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3059"/>
            <a:ext cx="9109168" cy="47544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FF9933"/>
              </a:gs>
              <a:gs pos="100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zh-CN" altLang="en-US">
              <a:latin typeface="Arial" charset="0"/>
              <a:ea typeface="隶书" pitchFamily="49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72D831F-D8F4-71F6-5B21-CB3604A2FB31}"/>
              </a:ext>
            </a:extLst>
          </p:cNvPr>
          <p:cNvSpPr/>
          <p:nvPr/>
        </p:nvSpPr>
        <p:spPr>
          <a:xfrm>
            <a:off x="796987" y="956229"/>
            <a:ext cx="187743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长春理工大学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692E904-F6DD-65C5-E2DB-0BAAE6B43B9E}"/>
              </a:ext>
            </a:extLst>
          </p:cNvPr>
          <p:cNvSpPr txBox="1"/>
          <p:nvPr/>
        </p:nvSpPr>
        <p:spPr>
          <a:xfrm>
            <a:off x="1605766" y="1260354"/>
            <a:ext cx="18774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收银流程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5AB2618-1A77-DFB5-62F6-1EB70645D188}"/>
              </a:ext>
            </a:extLst>
          </p:cNvPr>
          <p:cNvSpPr txBox="1"/>
          <p:nvPr/>
        </p:nvSpPr>
        <p:spPr>
          <a:xfrm>
            <a:off x="889480" y="1916960"/>
            <a:ext cx="3310010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0" dirty="0">
                <a:solidFill>
                  <a:srgbClr val="1F232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商品搜索，加入购物车，实时计算总价。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会员系统： 支持手机号识别会员，自动积分。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2CE7D72-2744-EA26-DF41-6E785DA2417A}"/>
              </a:ext>
            </a:extLst>
          </p:cNvPr>
          <p:cNvSpPr txBox="1"/>
          <p:nvPr/>
        </p:nvSpPr>
        <p:spPr>
          <a:xfrm>
            <a:off x="4646012" y="1910344"/>
            <a:ext cx="3682834" cy="2346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事务： 结账时同时扣减库存、增加流水、增加积分（原子性操作）。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电子小票： 结账成功后弹出虚拟小票窗口。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EE49B72-A000-91FA-7867-D63E80655DB5}"/>
              </a:ext>
            </a:extLst>
          </p:cNvPr>
          <p:cNvSpPr txBox="1"/>
          <p:nvPr/>
        </p:nvSpPr>
        <p:spPr>
          <a:xfrm>
            <a:off x="5548711" y="1202954"/>
            <a:ext cx="18774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订单处理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4CCCC9-FA46-7E27-5AA5-D0A08639B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60" y="4021715"/>
            <a:ext cx="3095745" cy="236947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8019B03-5DD2-9787-8F11-8541215C29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9490" y="4328458"/>
            <a:ext cx="4169671" cy="2167667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527C96C-F505-955C-280F-E8647AB59A66}"/>
              </a:ext>
            </a:extLst>
          </p:cNvPr>
          <p:cNvSpPr/>
          <p:nvPr/>
        </p:nvSpPr>
        <p:spPr>
          <a:xfrm>
            <a:off x="3356043" y="5206450"/>
            <a:ext cx="992221" cy="2702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47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187D1C-D0B3-55E9-CF70-FC949F4E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E3FEB1D1-8E83-1D64-9BD0-7B459574E2F1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79EB93-0395-4428-945F-D016AFEDB1B6}" type="slidenum">
              <a:rPr lang="zh-CN" altLang="en-US" smtClean="0"/>
              <a:pPr/>
              <a:t>12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D4E637-B4D4-92E8-1CEE-91EDC61AF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183"/>
            <a:ext cx="9144000" cy="743059"/>
          </a:xfrm>
          <a:prstGeom prst="rect">
            <a:avLst/>
          </a:prstGeom>
        </p:spPr>
      </p:pic>
      <p:pic>
        <p:nvPicPr>
          <p:cNvPr id="5" name="图片 11">
            <a:extLst>
              <a:ext uri="{FF2B5EF4-FFF2-40B4-BE49-F238E27FC236}">
                <a16:creationId xmlns:a16="http://schemas.microsoft.com/office/drawing/2014/main" id="{4024F28B-2632-EDE7-55FF-BBA884668420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8937" cy="7126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1">
            <a:extLst>
              <a:ext uri="{FF2B5EF4-FFF2-40B4-BE49-F238E27FC236}">
                <a16:creationId xmlns:a16="http://schemas.microsoft.com/office/drawing/2014/main" id="{4ADDC498-2689-554C-073E-2ECC1AF266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37" y="105208"/>
            <a:ext cx="1421220" cy="50227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EE2EB22E-0C09-BC45-C6A4-45476A9949B2}"/>
              </a:ext>
            </a:extLst>
          </p:cNvPr>
          <p:cNvSpPr txBox="1">
            <a:spLocks/>
          </p:cNvSpPr>
          <p:nvPr/>
        </p:nvSpPr>
        <p:spPr>
          <a:xfrm>
            <a:off x="8515350" y="6391186"/>
            <a:ext cx="426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12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F3D2B6-67B3-D32C-8448-D1657D5A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3059"/>
            <a:ext cx="9109168" cy="47544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FF9933"/>
              </a:gs>
              <a:gs pos="100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zh-CN" altLang="en-US">
              <a:latin typeface="Arial" charset="0"/>
              <a:ea typeface="隶书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CFE55B-B810-9F56-9122-135BAF2DABD9}"/>
              </a:ext>
            </a:extLst>
          </p:cNvPr>
          <p:cNvSpPr/>
          <p:nvPr/>
        </p:nvSpPr>
        <p:spPr>
          <a:xfrm>
            <a:off x="796987" y="956229"/>
            <a:ext cx="187743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长春理工大学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621C7BE-B87B-47C7-7C97-A249AC3698F2}"/>
              </a:ext>
            </a:extLst>
          </p:cNvPr>
          <p:cNvSpPr txBox="1"/>
          <p:nvPr/>
        </p:nvSpPr>
        <p:spPr>
          <a:xfrm>
            <a:off x="3633281" y="1028340"/>
            <a:ext cx="18774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售后处理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72BCCC-614B-CBBA-412A-75359C56FB95}"/>
              </a:ext>
            </a:extLst>
          </p:cNvPr>
          <p:cNvSpPr txBox="1"/>
          <p:nvPr/>
        </p:nvSpPr>
        <p:spPr>
          <a:xfrm>
            <a:off x="606884" y="2964166"/>
            <a:ext cx="3126545" cy="2250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支持收银员修改自己的历史订单（如退货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输错数量），系统自动记录修改日志。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F398792-3E9C-678B-4819-890A2A853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114" y="2152018"/>
            <a:ext cx="5061956" cy="387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26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B2E408-753F-3ACF-54BD-2F1A31109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F7E174AE-CE06-1CB4-4A64-7C643DA9002B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79EB93-0395-4428-945F-D016AFEDB1B6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3C942C2B-1519-3361-82AA-7563130264E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79EB93-0395-4428-945F-D016AFEDB1B6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F9C574B0-ADBE-6F5C-1526-C77EE5F08FF0}"/>
              </a:ext>
            </a:extLst>
          </p:cNvPr>
          <p:cNvSpPr txBox="1">
            <a:spLocks/>
          </p:cNvSpPr>
          <p:nvPr/>
        </p:nvSpPr>
        <p:spPr>
          <a:xfrm>
            <a:off x="8424153" y="6391186"/>
            <a:ext cx="517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13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6" name="组合 9">
            <a:extLst>
              <a:ext uri="{FF2B5EF4-FFF2-40B4-BE49-F238E27FC236}">
                <a16:creationId xmlns:a16="http://schemas.microsoft.com/office/drawing/2014/main" id="{413E4103-D2A7-59A2-8749-6DD9FE19C9CC}"/>
              </a:ext>
            </a:extLst>
          </p:cNvPr>
          <p:cNvGrpSpPr/>
          <p:nvPr/>
        </p:nvGrpSpPr>
        <p:grpSpPr bwMode="auto">
          <a:xfrm>
            <a:off x="1331913" y="2692400"/>
            <a:ext cx="1503362" cy="1473200"/>
            <a:chOff x="2008239" y="2389239"/>
            <a:chExt cx="2079522" cy="2079522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0913905-87D5-D9C9-8478-BE67A1DB8AD5}"/>
                </a:ext>
              </a:extLst>
            </p:cNvPr>
            <p:cNvGrpSpPr/>
            <p:nvPr/>
          </p:nvGrpSpPr>
          <p:grpSpPr>
            <a:xfrm>
              <a:off x="2008239" y="2389239"/>
              <a:ext cx="2079522" cy="2079522"/>
              <a:chOff x="7772400" y="3775587"/>
              <a:chExt cx="2079522" cy="2079522"/>
            </a:xfrm>
            <a:solidFill>
              <a:schemeClr val="bg1"/>
            </a:solidFill>
          </p:grpSpPr>
          <p:sp>
            <p:nvSpPr>
              <p:cNvPr id="9" name="空心弧 8">
                <a:extLst>
                  <a:ext uri="{FF2B5EF4-FFF2-40B4-BE49-F238E27FC236}">
                    <a16:creationId xmlns:a16="http://schemas.microsoft.com/office/drawing/2014/main" id="{0F23B851-503D-1477-6F3E-69FB429C0E02}"/>
                  </a:ext>
                </a:extLst>
              </p:cNvPr>
              <p:cNvSpPr/>
              <p:nvPr/>
            </p:nvSpPr>
            <p:spPr>
              <a:xfrm>
                <a:off x="7875639" y="3878826"/>
                <a:ext cx="1873045" cy="1873045"/>
              </a:xfrm>
              <a:prstGeom prst="blockArc">
                <a:avLst>
                  <a:gd name="adj1" fmla="val 2593583"/>
                  <a:gd name="adj2" fmla="val 838475"/>
                  <a:gd name="adj3" fmla="val 4553"/>
                </a:avLst>
              </a:prstGeom>
              <a:solidFill>
                <a:schemeClr val="bg1">
                  <a:alpha val="7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空心弧 9">
                <a:extLst>
                  <a:ext uri="{FF2B5EF4-FFF2-40B4-BE49-F238E27FC236}">
                    <a16:creationId xmlns:a16="http://schemas.microsoft.com/office/drawing/2014/main" id="{1381744B-B5EE-2125-EAEA-9DD470A97E71}"/>
                  </a:ext>
                </a:extLst>
              </p:cNvPr>
              <p:cNvSpPr/>
              <p:nvPr/>
            </p:nvSpPr>
            <p:spPr>
              <a:xfrm flipH="1">
                <a:off x="7812957" y="3816144"/>
                <a:ext cx="1998408" cy="1998408"/>
              </a:xfrm>
              <a:prstGeom prst="blockArc">
                <a:avLst>
                  <a:gd name="adj1" fmla="val 14449133"/>
                  <a:gd name="adj2" fmla="val 13621727"/>
                  <a:gd name="adj3" fmla="val 969"/>
                </a:avLst>
              </a:prstGeom>
              <a:solidFill>
                <a:schemeClr val="bg1">
                  <a:alpha val="4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空心弧 10">
                <a:extLst>
                  <a:ext uri="{FF2B5EF4-FFF2-40B4-BE49-F238E27FC236}">
                    <a16:creationId xmlns:a16="http://schemas.microsoft.com/office/drawing/2014/main" id="{67FF89B0-4AA4-5CD6-1FE5-2F6F91B6B30E}"/>
                  </a:ext>
                </a:extLst>
              </p:cNvPr>
              <p:cNvSpPr/>
              <p:nvPr/>
            </p:nvSpPr>
            <p:spPr>
              <a:xfrm flipV="1">
                <a:off x="7772400" y="3775587"/>
                <a:ext cx="2079522" cy="2079522"/>
              </a:xfrm>
              <a:prstGeom prst="blockArc">
                <a:avLst>
                  <a:gd name="adj1" fmla="val 2201999"/>
                  <a:gd name="adj2" fmla="val 1076694"/>
                  <a:gd name="adj3" fmla="val 433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文本框 42">
              <a:extLst>
                <a:ext uri="{FF2B5EF4-FFF2-40B4-BE49-F238E27FC236}">
                  <a16:creationId xmlns:a16="http://schemas.microsoft.com/office/drawing/2014/main" id="{5D86253E-9169-3F4A-7698-3CE88BEC7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9154" y="2859108"/>
              <a:ext cx="1217691" cy="13045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5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一</a:t>
              </a:r>
            </a:p>
          </p:txBody>
        </p:sp>
      </p:grpSp>
      <p:grpSp>
        <p:nvGrpSpPr>
          <p:cNvPr id="12" name="组合 17">
            <a:extLst>
              <a:ext uri="{FF2B5EF4-FFF2-40B4-BE49-F238E27FC236}">
                <a16:creationId xmlns:a16="http://schemas.microsoft.com/office/drawing/2014/main" id="{1AC59127-9492-E51F-8A5A-14857349C38F}"/>
              </a:ext>
            </a:extLst>
          </p:cNvPr>
          <p:cNvGrpSpPr/>
          <p:nvPr/>
        </p:nvGrpSpPr>
        <p:grpSpPr bwMode="auto">
          <a:xfrm>
            <a:off x="3587931" y="3541712"/>
            <a:ext cx="5354139" cy="98471"/>
            <a:chOff x="6618518" y="1126210"/>
            <a:chExt cx="4822371" cy="10323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8B1C641-7623-E0D7-369C-E4B239B44B3F}"/>
                </a:ext>
              </a:extLst>
            </p:cNvPr>
            <p:cNvSpPr/>
            <p:nvPr/>
          </p:nvSpPr>
          <p:spPr>
            <a:xfrm>
              <a:off x="6618518" y="1126210"/>
              <a:ext cx="1982601" cy="10323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1863B02-F53F-1AF8-2890-A8A865063ABB}"/>
                </a:ext>
              </a:extLst>
            </p:cNvPr>
            <p:cNvCxnSpPr/>
            <p:nvPr/>
          </p:nvCxnSpPr>
          <p:spPr>
            <a:xfrm flipV="1">
              <a:off x="8601119" y="1204036"/>
              <a:ext cx="2839770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4">
            <a:extLst>
              <a:ext uri="{FF2B5EF4-FFF2-40B4-BE49-F238E27FC236}">
                <a16:creationId xmlns:a16="http://schemas.microsoft.com/office/drawing/2014/main" id="{06B9A349-6027-35CC-843D-570736596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0234" y="2790259"/>
            <a:ext cx="5191836" cy="5656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关键技术实现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2584DB7-0307-0675-C514-ACE58B8FB3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25" y="0"/>
            <a:ext cx="3603256" cy="6858000"/>
          </a:xfrm>
          <a:prstGeom prst="rect">
            <a:avLst/>
          </a:prstGeom>
        </p:spPr>
      </p:pic>
      <p:grpSp>
        <p:nvGrpSpPr>
          <p:cNvPr id="17" name="组合 9">
            <a:extLst>
              <a:ext uri="{FF2B5EF4-FFF2-40B4-BE49-F238E27FC236}">
                <a16:creationId xmlns:a16="http://schemas.microsoft.com/office/drawing/2014/main" id="{EC28BAF2-2A7E-B98B-E704-D097A441611F}"/>
              </a:ext>
            </a:extLst>
          </p:cNvPr>
          <p:cNvGrpSpPr/>
          <p:nvPr/>
        </p:nvGrpSpPr>
        <p:grpSpPr bwMode="auto">
          <a:xfrm>
            <a:off x="1013277" y="2619263"/>
            <a:ext cx="1503362" cy="1473200"/>
            <a:chOff x="2008239" y="2389239"/>
            <a:chExt cx="2079522" cy="2079522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2212BE4B-3420-0A14-CF6A-EF652B5F34C2}"/>
                </a:ext>
              </a:extLst>
            </p:cNvPr>
            <p:cNvGrpSpPr/>
            <p:nvPr/>
          </p:nvGrpSpPr>
          <p:grpSpPr>
            <a:xfrm>
              <a:off x="2008239" y="2389239"/>
              <a:ext cx="2079522" cy="2079522"/>
              <a:chOff x="7772400" y="3775587"/>
              <a:chExt cx="2079522" cy="2079522"/>
            </a:xfrm>
            <a:solidFill>
              <a:schemeClr val="bg1"/>
            </a:solidFill>
          </p:grpSpPr>
          <p:sp>
            <p:nvSpPr>
              <p:cNvPr id="20" name="空心弧 19">
                <a:extLst>
                  <a:ext uri="{FF2B5EF4-FFF2-40B4-BE49-F238E27FC236}">
                    <a16:creationId xmlns:a16="http://schemas.microsoft.com/office/drawing/2014/main" id="{DCF3F2DF-622D-55D7-265F-2C77246E31E3}"/>
                  </a:ext>
                </a:extLst>
              </p:cNvPr>
              <p:cNvSpPr/>
              <p:nvPr/>
            </p:nvSpPr>
            <p:spPr>
              <a:xfrm>
                <a:off x="7875639" y="3878826"/>
                <a:ext cx="1873045" cy="1873045"/>
              </a:xfrm>
              <a:prstGeom prst="blockArc">
                <a:avLst>
                  <a:gd name="adj1" fmla="val 2593583"/>
                  <a:gd name="adj2" fmla="val 838475"/>
                  <a:gd name="adj3" fmla="val 4553"/>
                </a:avLst>
              </a:prstGeom>
              <a:solidFill>
                <a:schemeClr val="bg1">
                  <a:alpha val="7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空心弧 20">
                <a:extLst>
                  <a:ext uri="{FF2B5EF4-FFF2-40B4-BE49-F238E27FC236}">
                    <a16:creationId xmlns:a16="http://schemas.microsoft.com/office/drawing/2014/main" id="{004B61B9-D0CB-710D-1B7E-3D8FAB2759F0}"/>
                  </a:ext>
                </a:extLst>
              </p:cNvPr>
              <p:cNvSpPr/>
              <p:nvPr/>
            </p:nvSpPr>
            <p:spPr>
              <a:xfrm flipH="1">
                <a:off x="7812957" y="3816144"/>
                <a:ext cx="1998408" cy="1998408"/>
              </a:xfrm>
              <a:prstGeom prst="blockArc">
                <a:avLst>
                  <a:gd name="adj1" fmla="val 14449133"/>
                  <a:gd name="adj2" fmla="val 13621727"/>
                  <a:gd name="adj3" fmla="val 969"/>
                </a:avLst>
              </a:prstGeom>
              <a:solidFill>
                <a:schemeClr val="bg1">
                  <a:alpha val="4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空心弧 21">
                <a:extLst>
                  <a:ext uri="{FF2B5EF4-FFF2-40B4-BE49-F238E27FC236}">
                    <a16:creationId xmlns:a16="http://schemas.microsoft.com/office/drawing/2014/main" id="{B92DE283-AF5A-2B7D-FE52-B17BD4658344}"/>
                  </a:ext>
                </a:extLst>
              </p:cNvPr>
              <p:cNvSpPr/>
              <p:nvPr/>
            </p:nvSpPr>
            <p:spPr>
              <a:xfrm flipV="1">
                <a:off x="7772400" y="3775587"/>
                <a:ext cx="2079522" cy="2079522"/>
              </a:xfrm>
              <a:prstGeom prst="blockArc">
                <a:avLst>
                  <a:gd name="adj1" fmla="val 2201999"/>
                  <a:gd name="adj2" fmla="val 1076694"/>
                  <a:gd name="adj3" fmla="val 433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文本框 42">
              <a:extLst>
                <a:ext uri="{FF2B5EF4-FFF2-40B4-BE49-F238E27FC236}">
                  <a16:creationId xmlns:a16="http://schemas.microsoft.com/office/drawing/2014/main" id="{D59ACF31-7C35-FED0-283C-616F342E08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9154" y="2760761"/>
              <a:ext cx="255529" cy="13033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endParaRPr lang="zh-CN" altLang="en-US" sz="5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ED87D41F-E5FD-429B-703B-F76F5C943BD9}"/>
              </a:ext>
            </a:extLst>
          </p:cNvPr>
          <p:cNvSpPr txBox="1"/>
          <p:nvPr/>
        </p:nvSpPr>
        <p:spPr>
          <a:xfrm>
            <a:off x="1508143" y="2882461"/>
            <a:ext cx="8803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5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490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46E672-9994-22B7-6316-49594057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14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CD8BE3-3DB5-7A87-0925-BD4D5121F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183"/>
            <a:ext cx="9144000" cy="743059"/>
          </a:xfrm>
          <a:prstGeom prst="rect">
            <a:avLst/>
          </a:prstGeom>
        </p:spPr>
      </p:pic>
      <p:pic>
        <p:nvPicPr>
          <p:cNvPr id="4" name="图片 11">
            <a:extLst>
              <a:ext uri="{FF2B5EF4-FFF2-40B4-BE49-F238E27FC236}">
                <a16:creationId xmlns:a16="http://schemas.microsoft.com/office/drawing/2014/main" id="{E3A4C5CF-3320-0973-8629-6879B5BE0FA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8937" cy="7126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1">
            <a:extLst>
              <a:ext uri="{FF2B5EF4-FFF2-40B4-BE49-F238E27FC236}">
                <a16:creationId xmlns:a16="http://schemas.microsoft.com/office/drawing/2014/main" id="{2B104B74-F86B-66C0-9389-941CC72081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37" y="105208"/>
            <a:ext cx="1421220" cy="50227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C1D57E8C-DA11-02BE-B925-20DDA626FCC5}"/>
              </a:ext>
            </a:extLst>
          </p:cNvPr>
          <p:cNvSpPr txBox="1">
            <a:spLocks/>
          </p:cNvSpPr>
          <p:nvPr/>
        </p:nvSpPr>
        <p:spPr>
          <a:xfrm>
            <a:off x="8414426" y="6391186"/>
            <a:ext cx="527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79EB93-0395-4428-945F-D016AFEDB1B6}" type="slidenum">
              <a:rPr lang="zh-CN" altLang="en-US" sz="1600" smtClean="0">
                <a:solidFill>
                  <a:schemeClr val="tx1"/>
                </a:solidFill>
              </a:rPr>
              <a:pPr/>
              <a:t>14</a:t>
            </a:fld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BD56FB1-9892-0E95-DD99-12EEED3A2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3059"/>
            <a:ext cx="9109168" cy="47544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FF9933"/>
              </a:gs>
              <a:gs pos="100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zh-CN" altLang="en-US">
              <a:latin typeface="Arial" charset="0"/>
              <a:ea typeface="隶书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C1B37A-FA01-5347-C710-57817B154A41}"/>
              </a:ext>
            </a:extLst>
          </p:cNvPr>
          <p:cNvSpPr/>
          <p:nvPr/>
        </p:nvSpPr>
        <p:spPr>
          <a:xfrm>
            <a:off x="796987" y="956229"/>
            <a:ext cx="187743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长春理工大学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024593-EE94-8E86-AB06-9F3EC0EB7F51}"/>
              </a:ext>
            </a:extLst>
          </p:cNvPr>
          <p:cNvSpPr txBox="1"/>
          <p:nvPr/>
        </p:nvSpPr>
        <p:spPr>
          <a:xfrm>
            <a:off x="4106829" y="2018316"/>
            <a:ext cx="2495192" cy="419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conn.begin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(), commit()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rollback()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机制，确保结账时的“扣减库存”、“生成流水”、“更新会员积分”三步操作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具有原子性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。要么全部成功，要么在异常时全部回滚，杜绝数据异常。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E826CC-EB70-2732-72E0-B7E293F4228A}"/>
              </a:ext>
            </a:extLst>
          </p:cNvPr>
          <p:cNvSpPr txBox="1"/>
          <p:nvPr/>
        </p:nvSpPr>
        <p:spPr>
          <a:xfrm>
            <a:off x="3747085" y="1384425"/>
            <a:ext cx="3064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数据库事务管理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0BDE16-8083-0C9B-C71E-33D08F1F5CB4}"/>
              </a:ext>
            </a:extLst>
          </p:cNvPr>
          <p:cNvSpPr txBox="1"/>
          <p:nvPr/>
        </p:nvSpPr>
        <p:spPr>
          <a:xfrm>
            <a:off x="7397844" y="1380578"/>
            <a:ext cx="14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悲观锁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6CCA55-49A8-8665-8D69-F5D4F14C8AA1}"/>
              </a:ext>
            </a:extLst>
          </p:cNvPr>
          <p:cNvSpPr txBox="1"/>
          <p:nvPr/>
        </p:nvSpPr>
        <p:spPr>
          <a:xfrm>
            <a:off x="7036997" y="2018316"/>
            <a:ext cx="1865909" cy="37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 ... FOR UPDATE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解决多台收银机同时购买最后一件商品时的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超卖问题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。在结账未完成前，锁定该商品行，强制其他操作排队。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B0836D-7FF9-EEA0-B030-8D2D46C38D3A}"/>
              </a:ext>
            </a:extLst>
          </p:cNvPr>
          <p:cNvSpPr txBox="1"/>
          <p:nvPr/>
        </p:nvSpPr>
        <p:spPr>
          <a:xfrm>
            <a:off x="45842" y="1380577"/>
            <a:ext cx="3626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3200" b="1" dirty="0">
                <a:solidFill>
                  <a:srgbClr val="1A55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分层设计模式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0A43AB-98C0-FA98-69EB-36C795DB7CBC}"/>
              </a:ext>
            </a:extLst>
          </p:cNvPr>
          <p:cNvSpPr txBox="1"/>
          <p:nvPr/>
        </p:nvSpPr>
        <p:spPr>
          <a:xfrm>
            <a:off x="611250" y="2018315"/>
            <a:ext cx="2495193" cy="37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表现层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: main.py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封装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ttkbootstrap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界面组件，实现现代化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逻辑层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backend.py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封装所有业务规则，与界面彻底解耦。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数据层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db_setup.py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统一管理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MySQL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连接池与初始化。</a:t>
            </a:r>
          </a:p>
        </p:txBody>
      </p:sp>
    </p:spTree>
    <p:extLst>
      <p:ext uri="{BB962C8B-B14F-4D97-AF65-F5344CB8AC3E}">
        <p14:creationId xmlns:p14="http://schemas.microsoft.com/office/powerpoint/2010/main" val="1709347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E8CF53-55B1-2914-D1F5-6C5776F7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9EB93-0395-4428-945F-D016AFEDB1B6}" type="slidenum">
              <a:rPr lang="zh-CN" altLang="en-US" smtClean="0"/>
              <a:pPr/>
              <a:t>15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F14727-265C-4DCF-6048-D71CF803FE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6386"/>
            <a:ext cx="9144000" cy="7516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C5C24A1-241A-CAED-AF72-8CBC91756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184"/>
            <a:ext cx="9144000" cy="175541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0EA7FF5-D938-F12D-234E-A943EDA45CFE}"/>
              </a:ext>
            </a:extLst>
          </p:cNvPr>
          <p:cNvSpPr/>
          <p:nvPr/>
        </p:nvSpPr>
        <p:spPr>
          <a:xfrm>
            <a:off x="1026113" y="2488201"/>
            <a:ext cx="7271658" cy="956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lang="zh-CN" altLang="en-US" sz="4500" b="1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感谢聆听！</a:t>
            </a:r>
            <a:endParaRPr lang="zh-CN" altLang="zh-CN" sz="4500" b="1" kern="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11">
            <a:extLst>
              <a:ext uri="{FF2B5EF4-FFF2-40B4-BE49-F238E27FC236}">
                <a16:creationId xmlns:a16="http://schemas.microsoft.com/office/drawing/2014/main" id="{E834DF75-8271-569B-92FD-C7727D98F72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767" y="208561"/>
            <a:ext cx="1360351" cy="130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">
            <a:extLst>
              <a:ext uri="{FF2B5EF4-FFF2-40B4-BE49-F238E27FC236}">
                <a16:creationId xmlns:a16="http://schemas.microsoft.com/office/drawing/2014/main" id="{C9B4731D-A6B8-DA7F-36A8-70D053C7FF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16" y="6213189"/>
            <a:ext cx="1536790" cy="54312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13EE4143-E91E-4319-3E5C-3C4BA8B18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5" y="4117336"/>
            <a:ext cx="9144000" cy="3651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FF9933"/>
              </a:gs>
              <a:gs pos="100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zh-CN" altLang="en-US">
              <a:latin typeface="Arial" charset="0"/>
              <a:ea typeface="隶书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3D6B95-7A5A-1F40-D98E-73F922B1C798}"/>
              </a:ext>
            </a:extLst>
          </p:cNvPr>
          <p:cNvSpPr txBox="1"/>
          <p:nvPr/>
        </p:nvSpPr>
        <p:spPr>
          <a:xfrm>
            <a:off x="939625" y="4193587"/>
            <a:ext cx="7516997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240512301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王楷策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时间：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3764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6981</TotalTime>
  <Words>604</Words>
  <Application>Microsoft Office PowerPoint</Application>
  <PresentationFormat>全屏显示(4:3)</PresentationFormat>
  <Paragraphs>112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等线</vt:lpstr>
      <vt:lpstr>微软雅黑</vt:lpstr>
      <vt:lpstr>Arial</vt:lpstr>
      <vt:lpstr>Calibri</vt:lpstr>
      <vt:lpstr>Calibri Light</vt:lpstr>
      <vt:lpstr>Impact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优选便利店智能库存管家系统</dc:title>
  <dc:creator>王楷策</dc:creator>
  <cp:lastModifiedBy>Kaice Wang</cp:lastModifiedBy>
  <cp:revision>634</cp:revision>
  <dcterms:created xsi:type="dcterms:W3CDTF">2018-03-05T00:54:49Z</dcterms:created>
  <dcterms:modified xsi:type="dcterms:W3CDTF">2025-12-24T13:00:36Z</dcterms:modified>
</cp:coreProperties>
</file>